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8" r:id="rId2"/>
    <p:sldId id="256" r:id="rId3"/>
    <p:sldId id="257" r:id="rId4"/>
    <p:sldId id="286" r:id="rId5"/>
    <p:sldId id="258" r:id="rId6"/>
    <p:sldId id="259" r:id="rId7"/>
    <p:sldId id="260" r:id="rId8"/>
    <p:sldId id="261" r:id="rId9"/>
    <p:sldId id="262" r:id="rId10"/>
    <p:sldId id="263" r:id="rId11"/>
    <p:sldId id="264" r:id="rId12"/>
    <p:sldId id="265" r:id="rId13"/>
    <p:sldId id="266" r:id="rId14"/>
    <p:sldId id="267" r:id="rId15"/>
    <p:sldId id="270" r:id="rId16"/>
    <p:sldId id="274" r:id="rId17"/>
    <p:sldId id="276" r:id="rId18"/>
    <p:sldId id="280" r:id="rId19"/>
    <p:sldId id="278" r:id="rId20"/>
    <p:sldId id="273" r:id="rId21"/>
    <p:sldId id="283" r:id="rId22"/>
    <p:sldId id="284" r:id="rId23"/>
    <p:sldId id="285" r:id="rId24"/>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413"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579C2-6DCC-4B77-B801-70E447ADD0B5}" type="datetimeFigureOut">
              <a:rPr lang="id-ID" smtClean="0"/>
              <a:t>07/10/2026</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054C6-E681-41F3-AF26-70168A7C0E20}" type="slidenum">
              <a:rPr lang="id-ID" smtClean="0"/>
              <a:t>‹#›</a:t>
            </a:fld>
            <a:endParaRPr lang="id-ID"/>
          </a:p>
        </p:txBody>
      </p:sp>
    </p:spTree>
    <p:extLst>
      <p:ext uri="{BB962C8B-B14F-4D97-AF65-F5344CB8AC3E}">
        <p14:creationId xmlns:p14="http://schemas.microsoft.com/office/powerpoint/2010/main" val="2505094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D58054C6-E681-41F3-AF26-70168A7C0E20}" type="slidenum">
              <a:rPr lang="id-ID" smtClean="0"/>
              <a:t>5</a:t>
            </a:fld>
            <a:endParaRPr lang="id-ID"/>
          </a:p>
        </p:txBody>
      </p:sp>
    </p:spTree>
    <p:extLst>
      <p:ext uri="{BB962C8B-B14F-4D97-AF65-F5344CB8AC3E}">
        <p14:creationId xmlns:p14="http://schemas.microsoft.com/office/powerpoint/2010/main" val="3720402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0F35A-961C-5321-924A-5502452AEF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d-ID"/>
          </a:p>
        </p:txBody>
      </p:sp>
      <p:sp>
        <p:nvSpPr>
          <p:cNvPr id="3" name="Subtitle 2">
            <a:extLst>
              <a:ext uri="{FF2B5EF4-FFF2-40B4-BE49-F238E27FC236}">
                <a16:creationId xmlns:a16="http://schemas.microsoft.com/office/drawing/2014/main" id="{36E834AE-E7DE-9E0E-734F-7175BFEBB4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a:extLst>
              <a:ext uri="{FF2B5EF4-FFF2-40B4-BE49-F238E27FC236}">
                <a16:creationId xmlns:a16="http://schemas.microsoft.com/office/drawing/2014/main" id="{C8237D89-517C-673A-0F3B-72C4C5B48F0B}"/>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5" name="Footer Placeholder 4">
            <a:extLst>
              <a:ext uri="{FF2B5EF4-FFF2-40B4-BE49-F238E27FC236}">
                <a16:creationId xmlns:a16="http://schemas.microsoft.com/office/drawing/2014/main" id="{C5C1002E-8A8E-BFE3-E648-44367B59D37E}"/>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155AECF6-FF22-48F6-C392-6CA40EB57F23}"/>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4094531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B2292-94DB-CC19-BA89-0D1B0AC02ECE}"/>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2FF4C9E0-2222-5E83-6D9E-F92EFB020F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0DC914BD-9E43-B73A-F723-956AC625695F}"/>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5" name="Footer Placeholder 4">
            <a:extLst>
              <a:ext uri="{FF2B5EF4-FFF2-40B4-BE49-F238E27FC236}">
                <a16:creationId xmlns:a16="http://schemas.microsoft.com/office/drawing/2014/main" id="{12ED242E-1C52-A4A7-350F-DC44DA48CE6C}"/>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01CC1E23-3BDC-3CFF-AAC7-7D199E096A9A}"/>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581676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1C4-0BE7-AC3A-A3F3-D1E4679A6E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d-ID"/>
          </a:p>
        </p:txBody>
      </p:sp>
      <p:sp>
        <p:nvSpPr>
          <p:cNvPr id="3" name="Text Placeholder 2">
            <a:extLst>
              <a:ext uri="{FF2B5EF4-FFF2-40B4-BE49-F238E27FC236}">
                <a16:creationId xmlns:a16="http://schemas.microsoft.com/office/drawing/2014/main" id="{6F74AA13-69D9-A6BC-8CE0-BEB7C9CF40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A30E8-3F92-430F-D221-387D2165425A}"/>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5" name="Footer Placeholder 4">
            <a:extLst>
              <a:ext uri="{FF2B5EF4-FFF2-40B4-BE49-F238E27FC236}">
                <a16:creationId xmlns:a16="http://schemas.microsoft.com/office/drawing/2014/main" id="{5B045104-C81C-CE36-8CEC-94D18E353F51}"/>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DB27818A-1D52-BFB5-AF23-967A6EF65C81}"/>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39559844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52803-3051-9741-EEDA-E13D2CB82E60}"/>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9BCF1D77-C56A-094B-7496-646EB6308D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a:extLst>
              <a:ext uri="{FF2B5EF4-FFF2-40B4-BE49-F238E27FC236}">
                <a16:creationId xmlns:a16="http://schemas.microsoft.com/office/drawing/2014/main" id="{C744C0E8-3789-DB2D-ACC3-2FC0701149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a:extLst>
              <a:ext uri="{FF2B5EF4-FFF2-40B4-BE49-F238E27FC236}">
                <a16:creationId xmlns:a16="http://schemas.microsoft.com/office/drawing/2014/main" id="{25FC5928-1821-DA4E-23D1-4C02025AEC29}"/>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6" name="Footer Placeholder 5">
            <a:extLst>
              <a:ext uri="{FF2B5EF4-FFF2-40B4-BE49-F238E27FC236}">
                <a16:creationId xmlns:a16="http://schemas.microsoft.com/office/drawing/2014/main" id="{0D2A6610-F1B0-15CD-D5C3-6028030346F3}"/>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D4FABCF5-5701-BC28-7D01-F25D7B353A18}"/>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1838163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24DA4-567D-7A9A-DF9D-9A0F44909B0D}"/>
              </a:ext>
            </a:extLst>
          </p:cNvPr>
          <p:cNvSpPr>
            <a:spLocks noGrp="1"/>
          </p:cNvSpPr>
          <p:nvPr>
            <p:ph type="title"/>
          </p:nvPr>
        </p:nvSpPr>
        <p:spPr>
          <a:xfrm>
            <a:off x="839788" y="365125"/>
            <a:ext cx="10515600" cy="1325563"/>
          </a:xfrm>
        </p:spPr>
        <p:txBody>
          <a:bodyPr/>
          <a:lstStyle/>
          <a:p>
            <a:r>
              <a:rPr lang="en-US"/>
              <a:t>Click to edit Master title style</a:t>
            </a:r>
            <a:endParaRPr lang="id-ID"/>
          </a:p>
        </p:txBody>
      </p:sp>
      <p:sp>
        <p:nvSpPr>
          <p:cNvPr id="3" name="Text Placeholder 2">
            <a:extLst>
              <a:ext uri="{FF2B5EF4-FFF2-40B4-BE49-F238E27FC236}">
                <a16:creationId xmlns:a16="http://schemas.microsoft.com/office/drawing/2014/main" id="{0F468D2B-D4DF-ABCB-1683-7F1500EFF9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60BC92-CD43-9096-E9FC-97EBB585DF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a:extLst>
              <a:ext uri="{FF2B5EF4-FFF2-40B4-BE49-F238E27FC236}">
                <a16:creationId xmlns:a16="http://schemas.microsoft.com/office/drawing/2014/main" id="{D744735C-1E47-CA44-5700-DB96D47BBC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69AE78-4A03-9010-EBD2-CFFB6C9022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a:extLst>
              <a:ext uri="{FF2B5EF4-FFF2-40B4-BE49-F238E27FC236}">
                <a16:creationId xmlns:a16="http://schemas.microsoft.com/office/drawing/2014/main" id="{00205999-2BEE-3480-129A-C91953E5EA52}"/>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8" name="Footer Placeholder 7">
            <a:extLst>
              <a:ext uri="{FF2B5EF4-FFF2-40B4-BE49-F238E27FC236}">
                <a16:creationId xmlns:a16="http://schemas.microsoft.com/office/drawing/2014/main" id="{567ED9AB-BCD8-9C18-0A2D-2EA8733F302B}"/>
              </a:ext>
            </a:extLst>
          </p:cNvPr>
          <p:cNvSpPr>
            <a:spLocks noGrp="1"/>
          </p:cNvSpPr>
          <p:nvPr>
            <p:ph type="ftr" sz="quarter" idx="11"/>
          </p:nvPr>
        </p:nvSpPr>
        <p:spPr/>
        <p:txBody>
          <a:bodyPr/>
          <a:lstStyle/>
          <a:p>
            <a:endParaRPr lang="id-ID"/>
          </a:p>
        </p:txBody>
      </p:sp>
      <p:sp>
        <p:nvSpPr>
          <p:cNvPr id="9" name="Slide Number Placeholder 8">
            <a:extLst>
              <a:ext uri="{FF2B5EF4-FFF2-40B4-BE49-F238E27FC236}">
                <a16:creationId xmlns:a16="http://schemas.microsoft.com/office/drawing/2014/main" id="{ADFA4165-F971-5689-C9C0-106A6B908DC8}"/>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2928781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7ADD6-EEE6-377E-79CE-F83CECE9DB20}"/>
              </a:ext>
            </a:extLst>
          </p:cNvPr>
          <p:cNvSpPr>
            <a:spLocks noGrp="1"/>
          </p:cNvSpPr>
          <p:nvPr>
            <p:ph type="title"/>
          </p:nvPr>
        </p:nvSpPr>
        <p:spPr/>
        <p:txBody>
          <a:bodyPr/>
          <a:lstStyle/>
          <a:p>
            <a:r>
              <a:rPr lang="en-US"/>
              <a:t>Click to edit Master title style</a:t>
            </a:r>
            <a:endParaRPr lang="id-ID"/>
          </a:p>
        </p:txBody>
      </p:sp>
      <p:sp>
        <p:nvSpPr>
          <p:cNvPr id="3" name="Date Placeholder 2">
            <a:extLst>
              <a:ext uri="{FF2B5EF4-FFF2-40B4-BE49-F238E27FC236}">
                <a16:creationId xmlns:a16="http://schemas.microsoft.com/office/drawing/2014/main" id="{A9958084-8DD2-540F-121E-090061903C14}"/>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4" name="Footer Placeholder 3">
            <a:extLst>
              <a:ext uri="{FF2B5EF4-FFF2-40B4-BE49-F238E27FC236}">
                <a16:creationId xmlns:a16="http://schemas.microsoft.com/office/drawing/2014/main" id="{F5B783C3-8FBC-6348-A81A-D134A172BBF2}"/>
              </a:ext>
            </a:extLst>
          </p:cNvPr>
          <p:cNvSpPr>
            <a:spLocks noGrp="1"/>
          </p:cNvSpPr>
          <p:nvPr>
            <p:ph type="ftr" sz="quarter" idx="11"/>
          </p:nvPr>
        </p:nvSpPr>
        <p:spPr/>
        <p:txBody>
          <a:bodyPr/>
          <a:lstStyle/>
          <a:p>
            <a:endParaRPr lang="id-ID"/>
          </a:p>
        </p:txBody>
      </p:sp>
      <p:sp>
        <p:nvSpPr>
          <p:cNvPr id="5" name="Slide Number Placeholder 4">
            <a:extLst>
              <a:ext uri="{FF2B5EF4-FFF2-40B4-BE49-F238E27FC236}">
                <a16:creationId xmlns:a16="http://schemas.microsoft.com/office/drawing/2014/main" id="{6953E55B-DBB6-FD7C-89A4-851B4B7FA349}"/>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3846566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B77065-61C8-786B-8D12-12B6ABFC50F4}"/>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3" name="Footer Placeholder 2">
            <a:extLst>
              <a:ext uri="{FF2B5EF4-FFF2-40B4-BE49-F238E27FC236}">
                <a16:creationId xmlns:a16="http://schemas.microsoft.com/office/drawing/2014/main" id="{0FC7CC9C-9C8B-B944-E2D7-1AA95634BCD7}"/>
              </a:ext>
            </a:extLst>
          </p:cNvPr>
          <p:cNvSpPr>
            <a:spLocks noGrp="1"/>
          </p:cNvSpPr>
          <p:nvPr>
            <p:ph type="ftr" sz="quarter" idx="11"/>
          </p:nvPr>
        </p:nvSpPr>
        <p:spPr/>
        <p:txBody>
          <a:bodyPr/>
          <a:lstStyle/>
          <a:p>
            <a:endParaRPr lang="id-ID"/>
          </a:p>
        </p:txBody>
      </p:sp>
      <p:sp>
        <p:nvSpPr>
          <p:cNvPr id="4" name="Slide Number Placeholder 3">
            <a:extLst>
              <a:ext uri="{FF2B5EF4-FFF2-40B4-BE49-F238E27FC236}">
                <a16:creationId xmlns:a16="http://schemas.microsoft.com/office/drawing/2014/main" id="{A4135A72-5CCF-FC25-3A30-DEF99BC685A8}"/>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3409849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D7464-1FB3-F425-E1E6-A7470E89F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Content Placeholder 2">
            <a:extLst>
              <a:ext uri="{FF2B5EF4-FFF2-40B4-BE49-F238E27FC236}">
                <a16:creationId xmlns:a16="http://schemas.microsoft.com/office/drawing/2014/main" id="{CBE8C056-39AD-4BA9-B4AE-3A8C830666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a:extLst>
              <a:ext uri="{FF2B5EF4-FFF2-40B4-BE49-F238E27FC236}">
                <a16:creationId xmlns:a16="http://schemas.microsoft.com/office/drawing/2014/main" id="{4991CC53-178E-E1E8-E790-262D9552AD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81CF42-3748-2584-A7A3-F892DB6E679E}"/>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6" name="Footer Placeholder 5">
            <a:extLst>
              <a:ext uri="{FF2B5EF4-FFF2-40B4-BE49-F238E27FC236}">
                <a16:creationId xmlns:a16="http://schemas.microsoft.com/office/drawing/2014/main" id="{D923AB76-4BCD-EB29-5F6E-143780D498E5}"/>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A4F9E36F-25E3-2E8B-E639-CD4FA399094D}"/>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1134478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6731B-6F78-1FEF-28FF-B5AEEF7AD8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Picture Placeholder 2">
            <a:extLst>
              <a:ext uri="{FF2B5EF4-FFF2-40B4-BE49-F238E27FC236}">
                <a16:creationId xmlns:a16="http://schemas.microsoft.com/office/drawing/2014/main" id="{95038478-2A28-3B6E-774F-BF9142FD500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a:extLst>
              <a:ext uri="{FF2B5EF4-FFF2-40B4-BE49-F238E27FC236}">
                <a16:creationId xmlns:a16="http://schemas.microsoft.com/office/drawing/2014/main" id="{4C3CBF0B-EB23-CBBE-8C8E-920164DCB0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881054-C19C-F4BE-81FA-2558D4B198AE}"/>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6" name="Footer Placeholder 5">
            <a:extLst>
              <a:ext uri="{FF2B5EF4-FFF2-40B4-BE49-F238E27FC236}">
                <a16:creationId xmlns:a16="http://schemas.microsoft.com/office/drawing/2014/main" id="{4DEB65AD-A957-B8D2-91BC-A225943DE770}"/>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AFBA3BBA-50F8-2D61-4622-BCAEA1015456}"/>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1025705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9F30-D21C-F8B2-AC88-820618E1E1FD}"/>
              </a:ext>
            </a:extLst>
          </p:cNvPr>
          <p:cNvSpPr>
            <a:spLocks noGrp="1"/>
          </p:cNvSpPr>
          <p:nvPr>
            <p:ph type="title"/>
          </p:nvPr>
        </p:nvSpPr>
        <p:spPr/>
        <p:txBody>
          <a:bodyPr/>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9BF7F87A-DA5D-9853-49C0-3A6BEFF883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3CB54E2E-AB3D-8577-C0BE-351CFB757DCF}"/>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5" name="Footer Placeholder 4">
            <a:extLst>
              <a:ext uri="{FF2B5EF4-FFF2-40B4-BE49-F238E27FC236}">
                <a16:creationId xmlns:a16="http://schemas.microsoft.com/office/drawing/2014/main" id="{6DC2DC74-3DB6-D3AE-0B9D-149BA01C7CB5}"/>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C4C79A2A-207F-EA2A-089C-2991B3DD2A4F}"/>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3788620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56D0F6-DF4A-F1AE-716A-37370D5F46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C1FE78DA-DC4D-947B-E98C-6EACC5EE6D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900ABD8A-25F5-0049-D208-9C35C0C2D353}"/>
              </a:ext>
            </a:extLst>
          </p:cNvPr>
          <p:cNvSpPr>
            <a:spLocks noGrp="1"/>
          </p:cNvSpPr>
          <p:nvPr>
            <p:ph type="dt" sz="half" idx="10"/>
          </p:nvPr>
        </p:nvSpPr>
        <p:spPr/>
        <p:txBody>
          <a:bodyPr/>
          <a:lstStyle/>
          <a:p>
            <a:fld id="{E9A538DC-CA53-4397-9B12-7870CDD725A7}" type="datetimeFigureOut">
              <a:rPr lang="id-ID" smtClean="0"/>
              <a:t>07/10/2026</a:t>
            </a:fld>
            <a:endParaRPr lang="id-ID"/>
          </a:p>
        </p:txBody>
      </p:sp>
      <p:sp>
        <p:nvSpPr>
          <p:cNvPr id="5" name="Footer Placeholder 4">
            <a:extLst>
              <a:ext uri="{FF2B5EF4-FFF2-40B4-BE49-F238E27FC236}">
                <a16:creationId xmlns:a16="http://schemas.microsoft.com/office/drawing/2014/main" id="{F705D5D4-C8B7-6E1B-5760-54320C5E0647}"/>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4888BB71-275E-4E5A-3537-233D6404EF2F}"/>
              </a:ext>
            </a:extLst>
          </p:cNvPr>
          <p:cNvSpPr>
            <a:spLocks noGrp="1"/>
          </p:cNvSpPr>
          <p:nvPr>
            <p:ph type="sldNum" sz="quarter" idx="12"/>
          </p:nvPr>
        </p:nvSpPr>
        <p:spPr/>
        <p:txBody>
          <a:bodyPr/>
          <a:lstStyle/>
          <a:p>
            <a:fld id="{8F0ACD0C-424A-4E07-804A-0A9CBD6ECE38}" type="slidenum">
              <a:rPr lang="id-ID" smtClean="0"/>
              <a:t>‹#›</a:t>
            </a:fld>
            <a:endParaRPr lang="id-ID"/>
          </a:p>
        </p:txBody>
      </p:sp>
    </p:spTree>
    <p:extLst>
      <p:ext uri="{BB962C8B-B14F-4D97-AF65-F5344CB8AC3E}">
        <p14:creationId xmlns:p14="http://schemas.microsoft.com/office/powerpoint/2010/main" val="2117860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EA7129-31A5-FFC0-E152-48C0A85BD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a:extLst>
              <a:ext uri="{FF2B5EF4-FFF2-40B4-BE49-F238E27FC236}">
                <a16:creationId xmlns:a16="http://schemas.microsoft.com/office/drawing/2014/main" id="{D6E730E3-B3CE-3965-E346-3406F31321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708A93ED-6549-AEA6-75AA-2DA52271FB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A538DC-CA53-4397-9B12-7870CDD725A7}" type="datetimeFigureOut">
              <a:rPr lang="id-ID" smtClean="0"/>
              <a:t>07/10/2026</a:t>
            </a:fld>
            <a:endParaRPr lang="id-ID"/>
          </a:p>
        </p:txBody>
      </p:sp>
      <p:sp>
        <p:nvSpPr>
          <p:cNvPr id="5" name="Footer Placeholder 4">
            <a:extLst>
              <a:ext uri="{FF2B5EF4-FFF2-40B4-BE49-F238E27FC236}">
                <a16:creationId xmlns:a16="http://schemas.microsoft.com/office/drawing/2014/main" id="{F6F79695-479D-5007-F5E9-A12BF9A8F7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d-ID"/>
          </a:p>
        </p:txBody>
      </p:sp>
      <p:sp>
        <p:nvSpPr>
          <p:cNvPr id="6" name="Slide Number Placeholder 5">
            <a:extLst>
              <a:ext uri="{FF2B5EF4-FFF2-40B4-BE49-F238E27FC236}">
                <a16:creationId xmlns:a16="http://schemas.microsoft.com/office/drawing/2014/main" id="{56C49F28-09A5-633E-8708-3980EA7ED8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0ACD0C-424A-4E07-804A-0A9CBD6ECE38}" type="slidenum">
              <a:rPr lang="id-ID" smtClean="0"/>
              <a:t>‹#›</a:t>
            </a:fld>
            <a:endParaRPr lang="id-ID"/>
          </a:p>
        </p:txBody>
      </p:sp>
    </p:spTree>
    <p:extLst>
      <p:ext uri="{BB962C8B-B14F-4D97-AF65-F5344CB8AC3E}">
        <p14:creationId xmlns:p14="http://schemas.microsoft.com/office/powerpoint/2010/main" val="1373130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3.png"/><Relationship Id="rId7" Type="http://schemas.openxmlformats.org/officeDocument/2006/relationships/image" Target="../media/image15.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9.png"/><Relationship Id="rId5" Type="http://schemas.openxmlformats.org/officeDocument/2006/relationships/image" Target="../media/image25.png"/><Relationship Id="rId10" Type="http://schemas.openxmlformats.org/officeDocument/2006/relationships/image" Target="../media/image28.png"/><Relationship Id="rId4" Type="http://schemas.openxmlformats.org/officeDocument/2006/relationships/image" Target="../media/image24.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15.png"/><Relationship Id="rId2" Type="http://schemas.openxmlformats.org/officeDocument/2006/relationships/image" Target="../media/image270.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0.png"/><Relationship Id="rId1" Type="http://schemas.openxmlformats.org/officeDocument/2006/relationships/slideLayout" Target="../slideLayouts/slideLayout1.xml"/><Relationship Id="rId5" Type="http://schemas.openxmlformats.org/officeDocument/2006/relationships/image" Target="../media/image110.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8.png"/><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8.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0.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340.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111.png"/></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0">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C5224F0B-78D7-561E-4FC2-9AAADE5B9DB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AE6B707-48C0-0454-66EF-982569FFACBE}"/>
              </a:ext>
            </a:extLst>
          </p:cNvPr>
          <p:cNvSpPr/>
          <p:nvPr/>
        </p:nvSpPr>
        <p:spPr>
          <a:xfrm>
            <a:off x="0" y="-28384"/>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TextBox 3">
            <a:extLst>
              <a:ext uri="{FF2B5EF4-FFF2-40B4-BE49-F238E27FC236}">
                <a16:creationId xmlns:a16="http://schemas.microsoft.com/office/drawing/2014/main" id="{4C20FED5-83A4-6FB2-C383-3F9BB61A79AF}"/>
              </a:ext>
            </a:extLst>
          </p:cNvPr>
          <p:cNvSpPr txBox="1"/>
          <p:nvPr/>
        </p:nvSpPr>
        <p:spPr>
          <a:xfrm>
            <a:off x="4962832" y="520800"/>
            <a:ext cx="226633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TESTS</a:t>
            </a:r>
          </a:p>
        </p:txBody>
      </p:sp>
      <p:sp>
        <p:nvSpPr>
          <p:cNvPr id="6" name="TextBox 5">
            <a:extLst>
              <a:ext uri="{FF2B5EF4-FFF2-40B4-BE49-F238E27FC236}">
                <a16:creationId xmlns:a16="http://schemas.microsoft.com/office/drawing/2014/main" id="{3FBCCD98-395A-E99C-03FA-F16757EF3F05}"/>
              </a:ext>
            </a:extLst>
          </p:cNvPr>
          <p:cNvSpPr txBox="1"/>
          <p:nvPr/>
        </p:nvSpPr>
        <p:spPr>
          <a:xfrm>
            <a:off x="254000" y="130774"/>
            <a:ext cx="5405120" cy="6740307"/>
          </a:xfrm>
          <a:prstGeom prst="rect">
            <a:avLst/>
          </a:prstGeom>
          <a:noFill/>
        </p:spPr>
        <p:txBody>
          <a:bodyPr wrap="square" rtlCol="0">
            <a:spAutoFit/>
          </a:bodyPr>
          <a:lstStyle/>
          <a:p>
            <a:r>
              <a:rPr lang="id-ID" sz="7200" b="1" i="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Red</a:t>
            </a:r>
          </a:p>
          <a:p>
            <a:r>
              <a:rPr lang="id-ID" sz="7200"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Green</a:t>
            </a:r>
          </a:p>
          <a:p>
            <a:r>
              <a:rPr lang="id-ID" sz="7200" b="1" i="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Blue</a:t>
            </a:r>
          </a:p>
          <a:p>
            <a:r>
              <a:rPr lang="id-ID" sz="7200" b="1" i="1" dirty="0">
                <a:gradFill>
                  <a:gsLst>
                    <a:gs pos="0">
                      <a:schemeClr val="accent1">
                        <a:lumMod val="5000"/>
                        <a:lumOff val="95000"/>
                      </a:schemeClr>
                    </a:gs>
                    <a:gs pos="100000">
                      <a:srgbClr val="FFFF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Yellow</a:t>
            </a:r>
          </a:p>
          <a:p>
            <a:r>
              <a:rPr lang="id-ID" sz="7200" b="1" i="1" dirty="0">
                <a:gradFill>
                  <a:gsLst>
                    <a:gs pos="0">
                      <a:schemeClr val="accent1">
                        <a:lumMod val="5000"/>
                        <a:lumOff val="95000"/>
                      </a:schemeClr>
                    </a:gs>
                    <a:gs pos="73000">
                      <a:srgbClr val="AE4FA6"/>
                    </a:gs>
                    <a:gs pos="100000">
                      <a:schemeClr val="accent5"/>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Magenta</a:t>
            </a:r>
          </a:p>
          <a:p>
            <a:r>
              <a:rPr lang="id-ID" sz="7200" b="1" i="1" dirty="0">
                <a:ln>
                  <a:solidFill>
                    <a:schemeClr val="bg1"/>
                  </a:solidFill>
                </a:ln>
                <a:gradFill>
                  <a:gsLst>
                    <a:gs pos="0">
                      <a:schemeClr val="accent1">
                        <a:lumMod val="5000"/>
                        <a:lumOff val="95000"/>
                      </a:schemeClr>
                    </a:gs>
                    <a:gs pos="32000">
                      <a:srgbClr val="B8BEC2"/>
                    </a:gs>
                    <a:gs pos="72000">
                      <a:srgbClr val="2A2B2C"/>
                    </a:gs>
                    <a:gs pos="100000">
                      <a:schemeClr val="tx1"/>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Black</a:t>
            </a:r>
          </a:p>
        </p:txBody>
      </p:sp>
      <p:sp>
        <p:nvSpPr>
          <p:cNvPr id="12" name="TextBox 11">
            <a:extLst>
              <a:ext uri="{FF2B5EF4-FFF2-40B4-BE49-F238E27FC236}">
                <a16:creationId xmlns:a16="http://schemas.microsoft.com/office/drawing/2014/main" id="{511D8902-E1F6-F94C-5674-2C60C6CC2D3A}"/>
              </a:ext>
            </a:extLst>
          </p:cNvPr>
          <p:cNvSpPr txBox="1"/>
          <p:nvPr/>
        </p:nvSpPr>
        <p:spPr>
          <a:xfrm>
            <a:off x="7771417" y="1309334"/>
            <a:ext cx="458183" cy="1754326"/>
          </a:xfrm>
          <a:prstGeom prst="rect">
            <a:avLst/>
          </a:prstGeom>
          <a:noFill/>
        </p:spPr>
        <p:txBody>
          <a:bodyPr wrap="square" rtlCol="0">
            <a:spAutoFit/>
          </a:bodyPr>
          <a:lstStyle/>
          <a:p>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R</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G</a:t>
            </a: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a:t>
            </a:r>
          </a:p>
          <a:p>
            <a:r>
              <a:rPr lang="id-ID" b="1" dirty="0">
                <a:gradFill>
                  <a:gsLst>
                    <a:gs pos="0">
                      <a:schemeClr val="accent1">
                        <a:lumMod val="5000"/>
                        <a:lumOff val="95000"/>
                      </a:schemeClr>
                    </a:gs>
                    <a:gs pos="100000">
                      <a:srgbClr val="FFFF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Y</a:t>
            </a:r>
          </a:p>
          <a:p>
            <a:r>
              <a:rPr lang="id-ID" b="1" dirty="0">
                <a:gradFill>
                  <a:gsLst>
                    <a:gs pos="0">
                      <a:schemeClr val="accent1">
                        <a:lumMod val="5000"/>
                        <a:lumOff val="95000"/>
                      </a:schemeClr>
                    </a:gs>
                    <a:gs pos="73000">
                      <a:srgbClr val="AE4FA6"/>
                    </a:gs>
                    <a:gs pos="100000">
                      <a:schemeClr val="accent5"/>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a:t>
            </a:r>
          </a:p>
          <a:p>
            <a:r>
              <a:rPr lang="id-ID" b="1" dirty="0">
                <a:ln>
                  <a:solidFill>
                    <a:schemeClr val="bg1"/>
                  </a:solidFill>
                </a:ln>
                <a:gradFill>
                  <a:gsLst>
                    <a:gs pos="0">
                      <a:schemeClr val="accent1">
                        <a:lumMod val="5000"/>
                        <a:lumOff val="95000"/>
                      </a:schemeClr>
                    </a:gs>
                    <a:gs pos="32000">
                      <a:srgbClr val="B8BEC2"/>
                    </a:gs>
                    <a:gs pos="72000">
                      <a:srgbClr val="2A2B2C"/>
                    </a:gs>
                    <a:gs pos="100000">
                      <a:schemeClr val="tx1"/>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
        <p:nvSpPr>
          <p:cNvPr id="3" name="TextBox 2">
            <a:extLst>
              <a:ext uri="{FF2B5EF4-FFF2-40B4-BE49-F238E27FC236}">
                <a16:creationId xmlns:a16="http://schemas.microsoft.com/office/drawing/2014/main" id="{203B00E8-CE03-F597-235F-C92F349D9B80}"/>
              </a:ext>
            </a:extLst>
          </p:cNvPr>
          <p:cNvSpPr txBox="1"/>
          <p:nvPr/>
        </p:nvSpPr>
        <p:spPr>
          <a:xfrm>
            <a:off x="4869180" y="3310906"/>
            <a:ext cx="6720840" cy="1015663"/>
          </a:xfrm>
          <a:prstGeom prst="rect">
            <a:avLst/>
          </a:prstGeom>
          <a:noFill/>
        </p:spPr>
        <p:txBody>
          <a:bodyPr wrap="square" rtlCol="0">
            <a:spAutoFit/>
          </a:bodyPr>
          <a:lstStyle/>
          <a:p>
            <a:r>
              <a:rPr lang="zh-CN" altLang="en-US" sz="3000" b="1" i="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我爱北京天</a:t>
            </a:r>
            <a:r>
              <a:rPr lang="zh-CN" altLang="en-US" sz="3000" b="1" i="1">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安门。 早上好中国，今天我要吃秉持零</a:t>
            </a:r>
            <a:endParaRPr lang="en-US" altLang="zh-CN" sz="3000" b="1" i="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Tree>
    <p:extLst>
      <p:ext uri="{BB962C8B-B14F-4D97-AF65-F5344CB8AC3E}">
        <p14:creationId xmlns:p14="http://schemas.microsoft.com/office/powerpoint/2010/main" val="144830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100000">
              <a:srgbClr val="00143C"/>
            </a:gs>
            <a:gs pos="88000">
              <a:srgbClr val="000E29"/>
            </a:gs>
          </a:gsLst>
          <a:lin ang="5400000" scaled="1"/>
          <a:tileRect/>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66ACEC-C191-7D16-6B69-9FFFC4052EF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2D94A38D-8E80-D221-D547-8B7A489D07CB}"/>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483889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100000" fill="hold" grpId="0" nodeType="clickEffect">
                                  <p:stCondLst>
                                    <p:cond delay="0"/>
                                  </p:stCondLst>
                                  <p:childTnLst>
                                    <p:animMotion origin="layout" path="M 0 0 L 0 -1.08472 " pathEditMode="relative" rAng="0" ptsTypes="AA">
                                      <p:cBhvr>
                                        <p:cTn id="6" dur="2000" fill="hold"/>
                                        <p:tgtEl>
                                          <p:spTgt spid="4"/>
                                        </p:tgtEl>
                                        <p:attrNameLst>
                                          <p:attrName>ppt_x</p:attrName>
                                          <p:attrName>ppt_y</p:attrName>
                                        </p:attrNameLst>
                                      </p:cBhvr>
                                      <p:rCtr x="0" y="-542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100000">
              <a:srgbClr val="00143C"/>
            </a:gs>
            <a:gs pos="88000">
              <a:srgbClr val="000E29"/>
            </a:gs>
          </a:gsLst>
          <a:lin ang="5400000" scaled="1"/>
          <a:tileRect/>
        </a:gradFill>
        <a:effectLst/>
      </p:bgPr>
    </p:bg>
    <p:spTree>
      <p:nvGrpSpPr>
        <p:cNvPr id="1" name="">
          <a:extLst>
            <a:ext uri="{FF2B5EF4-FFF2-40B4-BE49-F238E27FC236}">
              <a16:creationId xmlns:a16="http://schemas.microsoft.com/office/drawing/2014/main" id="{813B0C8A-A365-3684-737D-95B34ECC6DB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3D5ECEE-5D7A-00E2-DBAA-B1B0E8A9ADCE}"/>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extBox 1">
            <a:extLst>
              <a:ext uri="{FF2B5EF4-FFF2-40B4-BE49-F238E27FC236}">
                <a16:creationId xmlns:a16="http://schemas.microsoft.com/office/drawing/2014/main" id="{F5E560DB-0DEE-2AA8-8CB3-F0CF95E81643}"/>
              </a:ext>
            </a:extLst>
          </p:cNvPr>
          <p:cNvSpPr txBox="1"/>
          <p:nvPr/>
        </p:nvSpPr>
        <p:spPr>
          <a:xfrm>
            <a:off x="5119611" y="3244334"/>
            <a:ext cx="1952779" cy="369332"/>
          </a:xfrm>
          <a:prstGeom prst="rect">
            <a:avLst/>
          </a:prstGeom>
          <a:noFill/>
        </p:spPr>
        <p:txBody>
          <a:bodyPr wrap="non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Latar Belakang</a:t>
            </a:r>
          </a:p>
        </p:txBody>
      </p:sp>
      <p:sp>
        <p:nvSpPr>
          <p:cNvPr id="3" name="TextBox 2">
            <a:extLst>
              <a:ext uri="{FF2B5EF4-FFF2-40B4-BE49-F238E27FC236}">
                <a16:creationId xmlns:a16="http://schemas.microsoft.com/office/drawing/2014/main" id="{01E58585-0A31-DEE8-F72F-4B291D52CE08}"/>
              </a:ext>
            </a:extLst>
          </p:cNvPr>
          <p:cNvSpPr txBox="1"/>
          <p:nvPr/>
        </p:nvSpPr>
        <p:spPr>
          <a:xfrm>
            <a:off x="1799303" y="1973289"/>
            <a:ext cx="8593394" cy="646331"/>
          </a:xfrm>
          <a:prstGeom prst="rect">
            <a:avLst/>
          </a:prstGeom>
          <a:noFill/>
        </p:spPr>
        <p:txBody>
          <a:bodyPr wrap="square" rtlCol="0">
            <a:spAutoFit/>
          </a:bodyPr>
          <a:lstStyle/>
          <a:p>
            <a:pPr algn="ctr"/>
            <a:r>
              <a:rPr lang="id-ID" b="1"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Pertanyaan 1: Mengapa menara turbin tidak dibuat kaku saja seperti tembok tebal supaya tidak bergoyang</a:t>
            </a:r>
          </a:p>
        </p:txBody>
      </p:sp>
      <p:sp>
        <p:nvSpPr>
          <p:cNvPr id="6" name="TextBox 5">
            <a:extLst>
              <a:ext uri="{FF2B5EF4-FFF2-40B4-BE49-F238E27FC236}">
                <a16:creationId xmlns:a16="http://schemas.microsoft.com/office/drawing/2014/main" id="{6FB5B1F0-DC19-E3E2-077D-16D4563AA497}"/>
              </a:ext>
            </a:extLst>
          </p:cNvPr>
          <p:cNvSpPr txBox="1"/>
          <p:nvPr/>
        </p:nvSpPr>
        <p:spPr>
          <a:xfrm>
            <a:off x="1799303" y="3903196"/>
            <a:ext cx="8593394" cy="646331"/>
          </a:xfrm>
          <a:prstGeom prst="rect">
            <a:avLst/>
          </a:prstGeom>
          <a:noFill/>
        </p:spPr>
        <p:txBody>
          <a:bodyPr wrap="square" rtlCol="0">
            <a:spAutoFit/>
          </a:bodyPr>
          <a:lstStyle/>
          <a:p>
            <a:pPr algn="ct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Jawaban: Dalam hukum teknik bangunan, benda yang terlalu kaku jika dihantam gaya raksasa justru akan </a:t>
            </a:r>
            <a:r>
              <a:rPr lang="id-ID" b="1" dirty="0">
                <a:gradFill>
                  <a:gsLst>
                    <a:gs pos="100000">
                      <a:schemeClr val="accent1">
                        <a:lumMod val="5000"/>
                        <a:lumOff val="95000"/>
                      </a:schemeClr>
                    </a:gs>
                    <a:gs pos="15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PATAH</a:t>
            </a:r>
          </a:p>
        </p:txBody>
      </p:sp>
      <p:sp>
        <p:nvSpPr>
          <p:cNvPr id="7" name="TextBox 6">
            <a:extLst>
              <a:ext uri="{FF2B5EF4-FFF2-40B4-BE49-F238E27FC236}">
                <a16:creationId xmlns:a16="http://schemas.microsoft.com/office/drawing/2014/main" id="{1F35330C-411D-2669-047C-A0BE16152C60}"/>
              </a:ext>
            </a:extLst>
          </p:cNvPr>
          <p:cNvSpPr txBox="1"/>
          <p:nvPr/>
        </p:nvSpPr>
        <p:spPr>
          <a:xfrm>
            <a:off x="1799303" y="1211386"/>
            <a:ext cx="8593394" cy="646331"/>
          </a:xfrm>
          <a:prstGeom prst="rect">
            <a:avLst/>
          </a:prstGeom>
          <a:noFill/>
        </p:spPr>
        <p:txBody>
          <a:bodyPr wrap="square" rtlCol="0">
            <a:spAutoFit/>
          </a:bodyPr>
          <a:lstStyle/>
          <a:p>
            <a:pPr algn="ctr"/>
            <a:r>
              <a:rPr lang="id-ID" b="1"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Pertanyaan 2: Mengapa goyangan kecil bisa berubah menjadi KEKACAUN (Chaos)?</a:t>
            </a:r>
          </a:p>
        </p:txBody>
      </p:sp>
      <p:sp>
        <p:nvSpPr>
          <p:cNvPr id="8" name="TextBox 7">
            <a:extLst>
              <a:ext uri="{FF2B5EF4-FFF2-40B4-BE49-F238E27FC236}">
                <a16:creationId xmlns:a16="http://schemas.microsoft.com/office/drawing/2014/main" id="{F540247F-8AE1-B942-7F20-FF9C00C2A32D}"/>
              </a:ext>
            </a:extLst>
          </p:cNvPr>
          <p:cNvSpPr txBox="1"/>
          <p:nvPr/>
        </p:nvSpPr>
        <p:spPr>
          <a:xfrm>
            <a:off x="285135" y="2335472"/>
            <a:ext cx="11621730" cy="3416320"/>
          </a:xfrm>
          <a:prstGeom prst="rect">
            <a:avLst/>
          </a:prstGeom>
          <a:noFill/>
        </p:spPr>
        <p:txBody>
          <a:bodyPr wrap="square" rtlCol="0">
            <a:spAutoFit/>
          </a:bodyPr>
          <a:lstStyle/>
          <a:p>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Mari kita bayangkan kamu sedang mendorong temanmu di ayunan:</a:t>
            </a:r>
          </a:p>
          <a:p>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Jika kamu mendorong ayunan tepat pada saat yang sama ketika ayunan bergerak maju, doronganmu akan membuat ayunan makin tinggi.</a:t>
            </a:r>
          </a:p>
          <a:p>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Di laut, turbin angin punya 2 bagian yang lentur: Menara (Lengan 1) dan Bilah (Lengan 2).</a:t>
            </a:r>
          </a:p>
          <a:p>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Saat angin kencang berembus, menara bergoyang ke kanan, sementara bilah melengkung ke belakang.</a:t>
            </a:r>
          </a:p>
          <a:p>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Saat menara membal kembali ke kiri, bilahnya membal ke depan.</a:t>
            </a:r>
          </a:p>
          <a:p>
            <a:pPr marL="285750" indent="-285750">
              <a:buFontTx/>
              <a:buChar char="-"/>
            </a:pP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Jika ada hembusan angin acak yang menendang tepat di detik bilah membal ke depan, gaya gerak menara dan bilah akan saling melipatgandakan diri!</a:t>
            </a:r>
          </a:p>
          <a:p>
            <a:pPr marL="285750" indent="-285750">
              <a:buFontTx/>
              <a:buChar char="-"/>
            </a:pPr>
            <a:endPar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Hasilnya: Goyangan awal yang cuma seukuran atom, setelah 20 detik berulang kali dihantam angin acak, bertumpuk menjadi goyangan raksasa. Inilah MENGAPA kita menyebutnya Chaos.</a:t>
            </a:r>
          </a:p>
        </p:txBody>
      </p:sp>
    </p:spTree>
    <p:extLst>
      <p:ext uri="{BB962C8B-B14F-4D97-AF65-F5344CB8AC3E}">
        <p14:creationId xmlns:p14="http://schemas.microsoft.com/office/powerpoint/2010/main" val="4183837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decel="100000" fill="hold" grpId="0" nodeType="clickEffect">
                                  <p:stCondLst>
                                    <p:cond delay="0"/>
                                  </p:stCondLst>
                                  <p:childTnLst>
                                    <p:animMotion origin="layout" path="M 0 0 L 0 -0.40972 " pathEditMode="relative" rAng="0" ptsTypes="AA">
                                      <p:cBhvr>
                                        <p:cTn id="6" dur="1000" fill="hold"/>
                                        <p:tgtEl>
                                          <p:spTgt spid="2"/>
                                        </p:tgtEl>
                                        <p:attrNameLst>
                                          <p:attrName>ppt_x</p:attrName>
                                          <p:attrName>ppt_y</p:attrName>
                                        </p:attrNameLst>
                                      </p:cBhvr>
                                      <p:rCtr x="0" y="-20486"/>
                                    </p:animMotion>
                                  </p:childTnLst>
                                </p:cTn>
                              </p:par>
                            </p:childTnLst>
                          </p:cTn>
                        </p:par>
                        <p:par>
                          <p:cTn id="7" fill="hold">
                            <p:stCondLst>
                              <p:cond delay="1000"/>
                            </p:stCondLst>
                            <p:childTnLst>
                              <p:par>
                                <p:cTn id="8" presetID="10" presetClass="entr" presetSubtype="0" fill="hold" grpId="0" nodeType="afterEffect">
                                  <p:stCondLst>
                                    <p:cond delay="0"/>
                                  </p:stCondLst>
                                  <p:iterate type="lt">
                                    <p:tmPct val="5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5000"/>
                                  </p:iterate>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iterate type="lt">
                                    <p:tmPct val="0"/>
                                  </p:iterate>
                                  <p:childTnLst>
                                    <p:animEffect transition="out" filter="fade">
                                      <p:cBhvr>
                                        <p:cTn id="19" dur="500"/>
                                        <p:tgtEl>
                                          <p:spTgt spid="3"/>
                                        </p:tgtEl>
                                      </p:cBhvr>
                                    </p:animEffect>
                                    <p:set>
                                      <p:cBhvr>
                                        <p:cTn id="20" dur="1" fill="hold">
                                          <p:stCondLst>
                                            <p:cond delay="499"/>
                                          </p:stCondLst>
                                        </p:cTn>
                                        <p:tgtEl>
                                          <p:spTgt spid="3"/>
                                        </p:tgtEl>
                                        <p:attrNameLst>
                                          <p:attrName>style.visibility</p:attrName>
                                        </p:attrNameLst>
                                      </p:cBhvr>
                                      <p:to>
                                        <p:strVal val="hidden"/>
                                      </p:to>
                                    </p:set>
                                  </p:childTnLst>
                                </p:cTn>
                              </p:par>
                              <p:par>
                                <p:cTn id="21" presetID="10" presetClass="exit" presetSubtype="0" fill="hold" grpId="1" nodeType="withEffect">
                                  <p:stCondLst>
                                    <p:cond delay="0"/>
                                  </p:stCondLst>
                                  <p:iterate type="lt">
                                    <p:tmPct val="0"/>
                                  </p:iterate>
                                  <p:childTnLst>
                                    <p:animEffect transition="out" filter="fade">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childTnLst>
                          </p:cTn>
                        </p:par>
                        <p:par>
                          <p:cTn id="24" fill="hold">
                            <p:stCondLst>
                              <p:cond delay="500"/>
                            </p:stCondLst>
                            <p:childTnLst>
                              <p:par>
                                <p:cTn id="25" presetID="10" presetClass="entr" presetSubtype="0" fill="hold" grpId="0" nodeType="afterEffect">
                                  <p:stCondLst>
                                    <p:cond delay="0"/>
                                  </p:stCondLst>
                                  <p:iterate type="lt">
                                    <p:tmPct val="5000"/>
                                  </p:iterate>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wd">
                                    <p:tmPct val="2000"/>
                                  </p:iterate>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6" grpId="0"/>
      <p:bldP spid="6" grpId="1"/>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100000">
              <a:srgbClr val="00143C"/>
            </a:gs>
            <a:gs pos="88000">
              <a:srgbClr val="000E29"/>
            </a:gs>
          </a:gsLst>
          <a:lin ang="5400000" scaled="1"/>
          <a:tileRect/>
        </a:gradFill>
        <a:effectLst/>
      </p:bgPr>
    </p:bg>
    <p:spTree>
      <p:nvGrpSpPr>
        <p:cNvPr id="1" name="">
          <a:extLst>
            <a:ext uri="{FF2B5EF4-FFF2-40B4-BE49-F238E27FC236}">
              <a16:creationId xmlns:a16="http://schemas.microsoft.com/office/drawing/2014/main" id="{2798AEC7-E4CC-B110-5638-DF585372EC5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1F34CCB-AE30-E337-01AE-4024D7C542AE}"/>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extBox 1">
            <a:extLst>
              <a:ext uri="{FF2B5EF4-FFF2-40B4-BE49-F238E27FC236}">
                <a16:creationId xmlns:a16="http://schemas.microsoft.com/office/drawing/2014/main" id="{B6C5A87B-CFF7-1362-D384-82380506F838}"/>
              </a:ext>
            </a:extLst>
          </p:cNvPr>
          <p:cNvSpPr txBox="1"/>
          <p:nvPr/>
        </p:nvSpPr>
        <p:spPr>
          <a:xfrm>
            <a:off x="5119610" y="599602"/>
            <a:ext cx="1952779" cy="369332"/>
          </a:xfrm>
          <a:prstGeom prst="rect">
            <a:avLst/>
          </a:prstGeom>
          <a:noFill/>
        </p:spPr>
        <p:txBody>
          <a:bodyPr wrap="non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Latar Belakang</a:t>
            </a:r>
          </a:p>
        </p:txBody>
      </p:sp>
      <p:sp>
        <p:nvSpPr>
          <p:cNvPr id="6" name="TextBox 5">
            <a:extLst>
              <a:ext uri="{FF2B5EF4-FFF2-40B4-BE49-F238E27FC236}">
                <a16:creationId xmlns:a16="http://schemas.microsoft.com/office/drawing/2014/main" id="{500B4FB9-79C4-DB83-0F92-B1F03C6F2BFE}"/>
              </a:ext>
            </a:extLst>
          </p:cNvPr>
          <p:cNvSpPr txBox="1"/>
          <p:nvPr/>
        </p:nvSpPr>
        <p:spPr>
          <a:xfrm>
            <a:off x="1799302" y="1307480"/>
            <a:ext cx="8593394" cy="369332"/>
          </a:xfrm>
          <a:prstGeom prst="rect">
            <a:avLst/>
          </a:prstGeom>
          <a:noFill/>
        </p:spPr>
        <p:txBody>
          <a:bodyPr wrap="square" rtlCol="0">
            <a:spAutoFit/>
          </a:bodyPr>
          <a:lstStyle/>
          <a:p>
            <a:pPr algn="ctr"/>
            <a:r>
              <a:rPr lang="id-ID" b="1" i="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Jadi mengapa kami memilih topik ini?</a:t>
            </a:r>
            <a:endPar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
        <p:nvSpPr>
          <p:cNvPr id="4" name="TextBox 3">
            <a:extLst>
              <a:ext uri="{FF2B5EF4-FFF2-40B4-BE49-F238E27FC236}">
                <a16:creationId xmlns:a16="http://schemas.microsoft.com/office/drawing/2014/main" id="{74B10948-9C76-15D8-5FB0-78ECBF86C7CD}"/>
              </a:ext>
            </a:extLst>
          </p:cNvPr>
          <p:cNvSpPr txBox="1"/>
          <p:nvPr/>
        </p:nvSpPr>
        <p:spPr>
          <a:xfrm>
            <a:off x="386080" y="1830692"/>
            <a:ext cx="11419838" cy="4247317"/>
          </a:xfrm>
          <a:prstGeom prst="rect">
            <a:avLst/>
          </a:prstGeom>
          <a:noFill/>
        </p:spPr>
        <p:txBody>
          <a:bodyPr wrap="square" rtlCol="0">
            <a:spAutoFit/>
          </a:bodyPr>
          <a:lstStyle/>
          <a:p>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Kami memilih topik ini karena ini masalah global dalam semua turbin angin, Kincir angin tingginya bisa 150 meter, dan angin di laut itu tidak lembut. Seringkali angin datang sepert badai yang menendang-nendang kincir angin dari berbagai arah secara acak. Kalau dibiarkan, menara raksasa ini bisa bergoyang makin lama makin kencang sampai akhirnya patah dan roboh ke laut.</a:t>
            </a:r>
          </a:p>
          <a:p>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Lalu, bagaimana cara orang-orang sekarang mencegah turbin patah? Sayangnya, cara mereka kurang pintar. Begitu badai datang, mereka malah mengerem dan MENGHENTIKAN putaran turbin supaya aman. Padahal, saat badai itulah angin paling kencang dan bisa menghasilkan listrik paling banyak! Sangat rugi, kan? Kita membuang-buang energi listrik gratis.</a:t>
            </a:r>
          </a:p>
          <a:p>
            <a:endPar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Itulah mengapa kami memilih proyek ini! Kami berpikir: Bagaimana kalau kita membuat 'Otak Pintar' supaya turbin bisa menahan goyangannya sendiri? Jadi, saat badai datang, turbin tidak perlu dimatikan. Turbin tetap berdiri kokoh menantang badai, dan kita bisa panen energi listrik 100% tanpa takut turbinnya roboh</a:t>
            </a:r>
            <a:endPar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Tree>
    <p:extLst>
      <p:ext uri="{BB962C8B-B14F-4D97-AF65-F5344CB8AC3E}">
        <p14:creationId xmlns:p14="http://schemas.microsoft.com/office/powerpoint/2010/main" val="24466413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5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1250"/>
                            </p:stCondLst>
                            <p:childTnLst>
                              <p:par>
                                <p:cTn id="9" presetID="10" presetClass="entr" presetSubtype="0" fill="hold" grpId="0" nodeType="afterEffect">
                                  <p:stCondLst>
                                    <p:cond delay="0"/>
                                  </p:stCondLst>
                                  <p:iterate type="wd">
                                    <p:tmPct val="1000"/>
                                  </p:iterate>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97D5FBE0-DA18-51E1-1345-E3EF1ED415C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A230493-429C-3DDF-195C-21F8D1C32C7D}"/>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extBox 1">
            <a:extLst>
              <a:ext uri="{FF2B5EF4-FFF2-40B4-BE49-F238E27FC236}">
                <a16:creationId xmlns:a16="http://schemas.microsoft.com/office/drawing/2014/main" id="{C90FE945-B622-2B8D-9B44-57DA3AB6423D}"/>
              </a:ext>
            </a:extLst>
          </p:cNvPr>
          <p:cNvSpPr txBox="1"/>
          <p:nvPr/>
        </p:nvSpPr>
        <p:spPr>
          <a:xfrm>
            <a:off x="4940710" y="3244334"/>
            <a:ext cx="2310580"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[1]</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DA5B5A6-AB7D-F435-0CF2-66E08ABF7851}"/>
                  </a:ext>
                </a:extLst>
              </p:cNvPr>
              <p:cNvSpPr txBox="1"/>
              <p:nvPr/>
            </p:nvSpPr>
            <p:spPr>
              <a:xfrm>
                <a:off x="2841524" y="2133600"/>
                <a:ext cx="1406013" cy="369332"/>
              </a:xfrm>
              <a:prstGeom prst="rect">
                <a:avLst/>
              </a:prstGeom>
              <a:noFill/>
            </p:spPr>
            <p:txBody>
              <a:bodyPr wrap="square" rtlCol="0">
                <a:spAutoFit/>
              </a:bodyPr>
              <a:lstStyle/>
              <a:p>
                <a:pPr/>
                <a14:m>
                  <m:oMathPara xmlns:m="http://schemas.openxmlformats.org/officeDocument/2006/math">
                    <m:oMath>
                      <m:sSub>
                        <m:sSubPr>
                          <m:ctrlPr>
                            <a:rPr lang="id-ID"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𝜔</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+1</m:t>
                          </m:r>
                        </m:sub>
                      </m:s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m:t>
                      </m:r>
                      <m:sSub>
                        <m:sSubPr>
                          <m:ctrlP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𝜔</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sub>
                      </m:sSub>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3" name="TextBox 2">
                <a:extLst>
                  <a:ext uri="{FF2B5EF4-FFF2-40B4-BE49-F238E27FC236}">
                    <a16:creationId xmlns:a16="http://schemas.microsoft.com/office/drawing/2014/main" id="{9DA5B5A6-AB7D-F435-0CF2-66E08ABF7851}"/>
                  </a:ext>
                </a:extLst>
              </p:cNvPr>
              <p:cNvSpPr txBox="1">
                <a:spLocks noRot="1" noChangeAspect="1" noMove="1" noResize="1" noEditPoints="1" noAdjustHandles="1" noChangeArrowheads="1" noChangeShapeType="1" noTextEdit="1"/>
              </p:cNvSpPr>
              <p:nvPr/>
            </p:nvSpPr>
            <p:spPr>
              <a:xfrm>
                <a:off x="2841524" y="2133600"/>
                <a:ext cx="1406013"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F29D60D-E53B-66BE-5714-5B6B18986CC8}"/>
                  </a:ext>
                </a:extLst>
              </p:cNvPr>
              <p:cNvSpPr txBox="1"/>
              <p:nvPr/>
            </p:nvSpPr>
            <p:spPr>
              <a:xfrm>
                <a:off x="3816759" y="2124062"/>
                <a:ext cx="1406013" cy="369332"/>
              </a:xfrm>
              <a:prstGeom prst="rect">
                <a:avLst/>
              </a:prstGeom>
              <a:noFill/>
            </p:spPr>
            <p:txBody>
              <a:bodyPr wrap="square" rtlCol="0">
                <a:spAutoFit/>
              </a:bodyPr>
              <a:lstStyle/>
              <a:p>
                <a:pPr/>
                <a14:m>
                  <m:oMathPara xmlns:m="http://schemas.openxmlformats.org/officeDocument/2006/math">
                    <m:oMath>
                      <m:r>
                        <a:rPr lang="id-ID" b="0"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𝛼</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sub>
                      </m:s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m:t>
                      </m:r>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7" name="TextBox 6">
                <a:extLst>
                  <a:ext uri="{FF2B5EF4-FFF2-40B4-BE49-F238E27FC236}">
                    <a16:creationId xmlns:a16="http://schemas.microsoft.com/office/drawing/2014/main" id="{4F29D60D-E53B-66BE-5714-5B6B18986CC8}"/>
                  </a:ext>
                </a:extLst>
              </p:cNvPr>
              <p:cNvSpPr txBox="1">
                <a:spLocks noRot="1" noChangeAspect="1" noMove="1" noResize="1" noEditPoints="1" noAdjustHandles="1" noChangeArrowheads="1" noChangeShapeType="1" noTextEdit="1"/>
              </p:cNvSpPr>
              <p:nvPr/>
            </p:nvSpPr>
            <p:spPr>
              <a:xfrm>
                <a:off x="3816759" y="2124062"/>
                <a:ext cx="1406013" cy="369332"/>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8DF31E6-A3BE-D1F7-6BDA-E5CFAF198BB1}"/>
                  </a:ext>
                </a:extLst>
              </p:cNvPr>
              <p:cNvSpPr txBox="1"/>
              <p:nvPr/>
            </p:nvSpPr>
            <p:spPr>
              <a:xfrm>
                <a:off x="4801826" y="2114524"/>
                <a:ext cx="1892710" cy="407484"/>
              </a:xfrm>
              <a:prstGeom prst="rect">
                <a:avLst/>
              </a:prstGeom>
              <a:noFill/>
            </p:spPr>
            <p:txBody>
              <a:bodyPr wrap="square" rtlCol="0">
                <a:spAutoFit/>
              </a:bodyPr>
              <a:lstStyle/>
              <a:p>
                <a:pPr/>
                <a14:m>
                  <m:oMathPara xmlns:m="http://schemas.openxmlformats.org/officeDocument/2006/math">
                    <m:oMath>
                      <m: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𝜎</m:t>
                      </m:r>
                      <m:rad>
                        <m:radPr>
                          <m:degHide m:val="on"/>
                          <m:ctrlP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ctrlPr>
                        </m:radPr>
                        <m:deg/>
                        <m:e>
                          <m:r>
                            <a:rPr lang="id-ID" b="0"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e>
                      </m:rad>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𝑁</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(0,1)</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9" name="TextBox 8">
                <a:extLst>
                  <a:ext uri="{FF2B5EF4-FFF2-40B4-BE49-F238E27FC236}">
                    <a16:creationId xmlns:a16="http://schemas.microsoft.com/office/drawing/2014/main" id="{A8DF31E6-A3BE-D1F7-6BDA-E5CFAF198BB1}"/>
                  </a:ext>
                </a:extLst>
              </p:cNvPr>
              <p:cNvSpPr txBox="1">
                <a:spLocks noRot="1" noChangeAspect="1" noMove="1" noResize="1" noEditPoints="1" noAdjustHandles="1" noChangeArrowheads="1" noChangeShapeType="1" noTextEdit="1"/>
              </p:cNvSpPr>
              <p:nvPr/>
            </p:nvSpPr>
            <p:spPr>
              <a:xfrm>
                <a:off x="4801826" y="2114524"/>
                <a:ext cx="1892710" cy="407484"/>
              </a:xfrm>
              <a:prstGeom prst="rect">
                <a:avLst/>
              </a:prstGeom>
              <a:blipFill>
                <a:blip r:embed="rId5"/>
                <a:stretch>
                  <a:fillRect b="-10448"/>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3BAB791-277C-0539-AEEE-BEEC28248FD2}"/>
                  </a:ext>
                </a:extLst>
              </p:cNvPr>
              <p:cNvSpPr txBox="1"/>
              <p:nvPr/>
            </p:nvSpPr>
            <p:spPr>
              <a:xfrm>
                <a:off x="6224430" y="2143138"/>
                <a:ext cx="1892710" cy="369332"/>
              </a:xfrm>
              <a:prstGeom prst="rect">
                <a:avLst/>
              </a:prstGeom>
              <a:noFill/>
            </p:spPr>
            <p:txBody>
              <a:bodyPr wrap="square" rtlCol="0">
                <a:spAutoFit/>
              </a:bodyPr>
              <a:lstStyle/>
              <a:p>
                <a:pPr/>
                <a14:m>
                  <m:oMathPara xmlns:m="http://schemas.openxmlformats.org/officeDocument/2006/math">
                    <m:oMath>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𝐾</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𝛥𝜔</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1" name="TextBox 10">
                <a:extLst>
                  <a:ext uri="{FF2B5EF4-FFF2-40B4-BE49-F238E27FC236}">
                    <a16:creationId xmlns:a16="http://schemas.microsoft.com/office/drawing/2014/main" id="{E3BAB791-277C-0539-AEEE-BEEC28248FD2}"/>
                  </a:ext>
                </a:extLst>
              </p:cNvPr>
              <p:cNvSpPr txBox="1">
                <a:spLocks noRot="1" noChangeAspect="1" noMove="1" noResize="1" noEditPoints="1" noAdjustHandles="1" noChangeArrowheads="1" noChangeShapeType="1" noTextEdit="1"/>
              </p:cNvSpPr>
              <p:nvPr/>
            </p:nvSpPr>
            <p:spPr>
              <a:xfrm>
                <a:off x="6224430" y="2143138"/>
                <a:ext cx="1892710" cy="369332"/>
              </a:xfrm>
              <a:prstGeom prst="rect">
                <a:avLst/>
              </a:prstGeom>
              <a:blipFill>
                <a:blip r:embed="rId6"/>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94A485E-F43F-C3CA-BB26-209BB0CD7598}"/>
                  </a:ext>
                </a:extLst>
              </p:cNvPr>
              <p:cNvSpPr txBox="1"/>
              <p:nvPr/>
            </p:nvSpPr>
            <p:spPr>
              <a:xfrm>
                <a:off x="7509388" y="2133600"/>
                <a:ext cx="1892710" cy="369332"/>
              </a:xfrm>
              <a:prstGeom prst="rect">
                <a:avLst/>
              </a:prstGeom>
              <a:noFill/>
            </p:spPr>
            <p:txBody>
              <a:bodyPr wrap="square" rtlCol="0">
                <a:spAutoFit/>
              </a:bodyPr>
              <a:lstStyle/>
              <a:p>
                <a:pPr/>
                <a14:m>
                  <m:oMathPara xmlns:m="http://schemas.openxmlformats.org/officeDocument/2006/math">
                    <m:oMath>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𝐾</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𝛥𝜃</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194A485E-F43F-C3CA-BB26-209BB0CD7598}"/>
                  </a:ext>
                </a:extLst>
              </p:cNvPr>
              <p:cNvSpPr txBox="1">
                <a:spLocks noRot="1" noChangeAspect="1" noMove="1" noResize="1" noEditPoints="1" noAdjustHandles="1" noChangeArrowheads="1" noChangeShapeType="1" noTextEdit="1"/>
              </p:cNvSpPr>
              <p:nvPr/>
            </p:nvSpPr>
            <p:spPr>
              <a:xfrm>
                <a:off x="7509388" y="2133600"/>
                <a:ext cx="1892710" cy="369332"/>
              </a:xfrm>
              <a:prstGeom prst="rect">
                <a:avLst/>
              </a:prstGeom>
              <a:blipFill>
                <a:blip r:embed="rId7"/>
                <a:stretch>
                  <a:fillRect/>
                </a:stretch>
              </a:blipFill>
            </p:spPr>
            <p:txBody>
              <a:bodyPr/>
              <a:lstStyle/>
              <a:p>
                <a:r>
                  <a:rPr lang="id-ID">
                    <a:noFill/>
                  </a:rPr>
                  <a:t> </a:t>
                </a:r>
              </a:p>
            </p:txBody>
          </p:sp>
        </mc:Fallback>
      </mc:AlternateContent>
      <p:sp>
        <p:nvSpPr>
          <p:cNvPr id="14" name="TextBox 13">
            <a:extLst>
              <a:ext uri="{FF2B5EF4-FFF2-40B4-BE49-F238E27FC236}">
                <a16:creationId xmlns:a16="http://schemas.microsoft.com/office/drawing/2014/main" id="{014347F8-4EB0-515E-47A4-7E3EF8946FD3}"/>
              </a:ext>
            </a:extLst>
          </p:cNvPr>
          <p:cNvSpPr txBox="1"/>
          <p:nvPr/>
        </p:nvSpPr>
        <p:spPr>
          <a:xfrm>
            <a:off x="3627181" y="3949970"/>
            <a:ext cx="4937637" cy="369332"/>
          </a:xfrm>
          <a:prstGeom prst="rect">
            <a:avLst/>
          </a:prstGeom>
          <a:noFill/>
        </p:spPr>
        <p:txBody>
          <a:bodyPr wrap="square" rtlCol="0">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Mungkin kelihatannya mengerikan, kan?</a:t>
            </a:r>
          </a:p>
        </p:txBody>
      </p:sp>
      <p:sp>
        <p:nvSpPr>
          <p:cNvPr id="15" name="TextBox 14">
            <a:extLst>
              <a:ext uri="{FF2B5EF4-FFF2-40B4-BE49-F238E27FC236}">
                <a16:creationId xmlns:a16="http://schemas.microsoft.com/office/drawing/2014/main" id="{92D17936-DC24-1815-E8E6-9499D8162451}"/>
              </a:ext>
            </a:extLst>
          </p:cNvPr>
          <p:cNvSpPr txBox="1"/>
          <p:nvPr/>
        </p:nvSpPr>
        <p:spPr>
          <a:xfrm>
            <a:off x="2423190" y="3949970"/>
            <a:ext cx="7345617" cy="369332"/>
          </a:xfrm>
          <a:prstGeom prst="rect">
            <a:avLst/>
          </a:prstGeom>
          <a:noFill/>
        </p:spPr>
        <p:txBody>
          <a:bodyPr wrap="square" rtlCol="0">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Tapi tidak apa-apa, kita bisa menjelaskannya satu per satu.</a:t>
            </a:r>
          </a:p>
        </p:txBody>
      </p:sp>
    </p:spTree>
    <p:extLst>
      <p:ext uri="{BB962C8B-B14F-4D97-AF65-F5344CB8AC3E}">
        <p14:creationId xmlns:p14="http://schemas.microsoft.com/office/powerpoint/2010/main" val="2824729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decel="100000" fill="hold" grpId="0" nodeType="clickEffect">
                                  <p:stCondLst>
                                    <p:cond delay="0"/>
                                  </p:stCondLst>
                                  <p:childTnLst>
                                    <p:animMotion origin="layout" path="M 0 0 L 0 -0.42824 " pathEditMode="relative" rAng="0" ptsTypes="AA">
                                      <p:cBhvr>
                                        <p:cTn id="6" dur="1000" fill="hold"/>
                                        <p:tgtEl>
                                          <p:spTgt spid="2"/>
                                        </p:tgtEl>
                                        <p:attrNameLst>
                                          <p:attrName>ppt_x</p:attrName>
                                          <p:attrName>ppt_y</p:attrName>
                                        </p:attrNameLst>
                                      </p:cBhvr>
                                      <p:rCtr x="0" y="-21412"/>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iterate type="lt">
                                    <p:tmPct val="3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680"/>
                            </p:stCondLst>
                            <p:childTnLst>
                              <p:par>
                                <p:cTn id="13" presetID="10" presetClass="entr" presetSubtype="0" fill="hold" grpId="0" nodeType="afterEffect">
                                  <p:stCondLst>
                                    <p:cond delay="0"/>
                                  </p:stCondLst>
                                  <p:iterate type="lt">
                                    <p:tmPct val="3000"/>
                                  </p:iterate>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300"/>
                            </p:stCondLst>
                            <p:childTnLst>
                              <p:par>
                                <p:cTn id="17" presetID="10" presetClass="entr" presetSubtype="0" fill="hold" grpId="0" nodeType="afterEffect">
                                  <p:stCondLst>
                                    <p:cond delay="0"/>
                                  </p:stCondLst>
                                  <p:iterate type="lt">
                                    <p:tmPct val="3000"/>
                                  </p:iterate>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2010"/>
                            </p:stCondLst>
                            <p:childTnLst>
                              <p:par>
                                <p:cTn id="21" presetID="10" presetClass="entr" presetSubtype="0" fill="hold" grpId="0" nodeType="afterEffect">
                                  <p:stCondLst>
                                    <p:cond delay="0"/>
                                  </p:stCondLst>
                                  <p:iterate type="lt">
                                    <p:tmPct val="3000"/>
                                  </p:iterate>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615"/>
                            </p:stCondLst>
                            <p:childTnLst>
                              <p:par>
                                <p:cTn id="25" presetID="10" presetClass="entr" presetSubtype="0" fill="hold" grpId="0" nodeType="afterEffect">
                                  <p:stCondLst>
                                    <p:cond delay="0"/>
                                  </p:stCondLst>
                                  <p:iterate type="lt">
                                    <p:tmPct val="3000"/>
                                  </p:iterate>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4000"/>
                                  </p:iterate>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iterate type="lt">
                                    <p:tmPct val="0"/>
                                  </p:iterate>
                                  <p:childTnLst>
                                    <p:animEffect transition="out" filter="fade">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par>
                          <p:cTn id="38" fill="hold">
                            <p:stCondLst>
                              <p:cond delay="500"/>
                            </p:stCondLst>
                            <p:childTnLst>
                              <p:par>
                                <p:cTn id="39" presetID="10" presetClass="entr" presetSubtype="0" fill="hold" grpId="0" nodeType="afterEffect">
                                  <p:stCondLst>
                                    <p:cond delay="0"/>
                                  </p:stCondLst>
                                  <p:iterate type="lt">
                                    <p:tmPct val="2000"/>
                                  </p:iterate>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iterate type="lt">
                                    <p:tmPct val="0"/>
                                  </p:iterate>
                                  <p:childTnLst>
                                    <p:animEffect transition="out" filter="fade">
                                      <p:cBhvr>
                                        <p:cTn id="45" dur="500"/>
                                        <p:tgtEl>
                                          <p:spTgt spid="15"/>
                                        </p:tgtEl>
                                      </p:cBhvr>
                                    </p:animEffect>
                                    <p:set>
                                      <p:cBhvr>
                                        <p:cTn id="46"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9" grpId="0"/>
      <p:bldP spid="11" grpId="0"/>
      <p:bldP spid="13" grpId="0"/>
      <p:bldP spid="14" grpId="0"/>
      <p:bldP spid="14" grpId="1"/>
      <p:bldP spid="15" grpId="0"/>
      <p:bldP spid="15"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20380B99-3201-4F59-53DE-B6F08130A05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332DF65-D116-1696-41B7-BB4A85F4AADC}"/>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extBox 1">
            <a:extLst>
              <a:ext uri="{FF2B5EF4-FFF2-40B4-BE49-F238E27FC236}">
                <a16:creationId xmlns:a16="http://schemas.microsoft.com/office/drawing/2014/main" id="{6E386120-25EF-C9FD-E303-D20933F9EA83}"/>
              </a:ext>
            </a:extLst>
          </p:cNvPr>
          <p:cNvSpPr txBox="1"/>
          <p:nvPr/>
        </p:nvSpPr>
        <p:spPr>
          <a:xfrm>
            <a:off x="4768646" y="491301"/>
            <a:ext cx="2654708"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[1]</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16C656D-8902-44E8-7EAA-11225D42E808}"/>
                  </a:ext>
                </a:extLst>
              </p:cNvPr>
              <p:cNvSpPr txBox="1"/>
              <p:nvPr/>
            </p:nvSpPr>
            <p:spPr>
              <a:xfrm>
                <a:off x="1125788" y="1989146"/>
                <a:ext cx="1406013" cy="369332"/>
              </a:xfrm>
              <a:prstGeom prst="rect">
                <a:avLst/>
              </a:prstGeom>
              <a:noFill/>
            </p:spPr>
            <p:txBody>
              <a:bodyPr wrap="square" rtlCol="0">
                <a:spAutoFit/>
              </a:bodyPr>
              <a:lstStyle/>
              <a:p>
                <a:pPr/>
                <a14:m>
                  <m:oMathPara xmlns:m="http://schemas.openxmlformats.org/officeDocument/2006/math">
                    <m:oMath>
                      <m:sSub>
                        <m:sSubPr>
                          <m:ctrlPr>
                            <a:rPr lang="id-ID"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𝜔</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+1</m:t>
                          </m:r>
                        </m:sub>
                      </m:s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m:t>
                      </m:r>
                      <m:sSub>
                        <m:sSubPr>
                          <m:ctrlP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𝜔</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sub>
                      </m:sSub>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3" name="TextBox 2">
                <a:extLst>
                  <a:ext uri="{FF2B5EF4-FFF2-40B4-BE49-F238E27FC236}">
                    <a16:creationId xmlns:a16="http://schemas.microsoft.com/office/drawing/2014/main" id="{C16C656D-8902-44E8-7EAA-11225D42E808}"/>
                  </a:ext>
                </a:extLst>
              </p:cNvPr>
              <p:cNvSpPr txBox="1">
                <a:spLocks noRot="1" noChangeAspect="1" noMove="1" noResize="1" noEditPoints="1" noAdjustHandles="1" noChangeArrowheads="1" noChangeShapeType="1" noTextEdit="1"/>
              </p:cNvSpPr>
              <p:nvPr/>
            </p:nvSpPr>
            <p:spPr>
              <a:xfrm>
                <a:off x="1125788" y="1989146"/>
                <a:ext cx="1406013" cy="369332"/>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4079902-32ED-B06A-F150-C39647ED00C8}"/>
                  </a:ext>
                </a:extLst>
              </p:cNvPr>
              <p:cNvSpPr txBox="1"/>
              <p:nvPr/>
            </p:nvSpPr>
            <p:spPr>
              <a:xfrm>
                <a:off x="994900" y="2368899"/>
                <a:ext cx="1406013" cy="369332"/>
              </a:xfrm>
              <a:prstGeom prst="rect">
                <a:avLst/>
              </a:prstGeom>
              <a:noFill/>
            </p:spPr>
            <p:txBody>
              <a:bodyPr wrap="square" rtlCol="0">
                <a:spAutoFit/>
              </a:bodyPr>
              <a:lstStyle/>
              <a:p>
                <a:pPr/>
                <a14:m>
                  <m:oMathPara xmlns:m="http://schemas.openxmlformats.org/officeDocument/2006/math">
                    <m:oMath>
                      <m:r>
                        <a:rPr lang="id-ID" b="0"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𝛼</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sub>
                      </m:s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m:t>
                      </m:r>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7" name="TextBox 6">
                <a:extLst>
                  <a:ext uri="{FF2B5EF4-FFF2-40B4-BE49-F238E27FC236}">
                    <a16:creationId xmlns:a16="http://schemas.microsoft.com/office/drawing/2014/main" id="{54079902-32ED-B06A-F150-C39647ED00C8}"/>
                  </a:ext>
                </a:extLst>
              </p:cNvPr>
              <p:cNvSpPr txBox="1">
                <a:spLocks noRot="1" noChangeAspect="1" noMove="1" noResize="1" noEditPoints="1" noAdjustHandles="1" noChangeArrowheads="1" noChangeShapeType="1" noTextEdit="1"/>
              </p:cNvSpPr>
              <p:nvPr/>
            </p:nvSpPr>
            <p:spPr>
              <a:xfrm>
                <a:off x="994900" y="2368899"/>
                <a:ext cx="1406013"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F57C04C-5F26-91AC-8EF4-074980392D80}"/>
                  </a:ext>
                </a:extLst>
              </p:cNvPr>
              <p:cNvSpPr txBox="1"/>
              <p:nvPr/>
            </p:nvSpPr>
            <p:spPr>
              <a:xfrm>
                <a:off x="1076628" y="2698903"/>
                <a:ext cx="1892710" cy="407484"/>
              </a:xfrm>
              <a:prstGeom prst="rect">
                <a:avLst/>
              </a:prstGeom>
              <a:noFill/>
            </p:spPr>
            <p:txBody>
              <a:bodyPr wrap="square" rtlCol="0">
                <a:spAutoFit/>
              </a:bodyPr>
              <a:lstStyle/>
              <a:p>
                <a:pPr/>
                <a14:m>
                  <m:oMathPara xmlns:m="http://schemas.openxmlformats.org/officeDocument/2006/math">
                    <m:oMath>
                      <m: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𝜎</m:t>
                      </m:r>
                      <m:rad>
                        <m:radPr>
                          <m:degHide m:val="on"/>
                          <m:ctrlP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ctrlPr>
                        </m:radPr>
                        <m:deg/>
                        <m:e>
                          <m:r>
                            <a:rPr lang="id-ID" b="0"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e>
                      </m:rad>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𝑁</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(0,1)</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9" name="TextBox 8">
                <a:extLst>
                  <a:ext uri="{FF2B5EF4-FFF2-40B4-BE49-F238E27FC236}">
                    <a16:creationId xmlns:a16="http://schemas.microsoft.com/office/drawing/2014/main" id="{1F57C04C-5F26-91AC-8EF4-074980392D80}"/>
                  </a:ext>
                </a:extLst>
              </p:cNvPr>
              <p:cNvSpPr txBox="1">
                <a:spLocks noRot="1" noChangeAspect="1" noMove="1" noResize="1" noEditPoints="1" noAdjustHandles="1" noChangeArrowheads="1" noChangeShapeType="1" noTextEdit="1"/>
              </p:cNvSpPr>
              <p:nvPr/>
            </p:nvSpPr>
            <p:spPr>
              <a:xfrm>
                <a:off x="1076628" y="2698903"/>
                <a:ext cx="1892710" cy="407484"/>
              </a:xfrm>
              <a:prstGeom prst="rect">
                <a:avLst/>
              </a:prstGeom>
              <a:blipFill>
                <a:blip r:embed="rId4"/>
                <a:stretch>
                  <a:fillRect b="-10448"/>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B5886C7-4899-9F68-6E12-DF179D694F18}"/>
                  </a:ext>
                </a:extLst>
              </p:cNvPr>
              <p:cNvSpPr txBox="1"/>
              <p:nvPr/>
            </p:nvSpPr>
            <p:spPr>
              <a:xfrm>
                <a:off x="921767" y="3059666"/>
                <a:ext cx="1892710" cy="369332"/>
              </a:xfrm>
              <a:prstGeom prst="rect">
                <a:avLst/>
              </a:prstGeom>
              <a:noFill/>
            </p:spPr>
            <p:txBody>
              <a:bodyPr wrap="square" rtlCol="0">
                <a:spAutoFit/>
              </a:bodyPr>
              <a:lstStyle/>
              <a:p>
                <a:pPr/>
                <a14:m>
                  <m:oMathPara xmlns:m="http://schemas.openxmlformats.org/officeDocument/2006/math">
                    <m:oMath>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𝐾</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𝛥𝜔</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1" name="TextBox 10">
                <a:extLst>
                  <a:ext uri="{FF2B5EF4-FFF2-40B4-BE49-F238E27FC236}">
                    <a16:creationId xmlns:a16="http://schemas.microsoft.com/office/drawing/2014/main" id="{5B5886C7-4899-9F68-6E12-DF179D694F18}"/>
                  </a:ext>
                </a:extLst>
              </p:cNvPr>
              <p:cNvSpPr txBox="1">
                <a:spLocks noRot="1" noChangeAspect="1" noMove="1" noResize="1" noEditPoints="1" noAdjustHandles="1" noChangeArrowheads="1" noChangeShapeType="1" noTextEdit="1"/>
              </p:cNvSpPr>
              <p:nvPr/>
            </p:nvSpPr>
            <p:spPr>
              <a:xfrm>
                <a:off x="921767" y="3059666"/>
                <a:ext cx="1892710" cy="369332"/>
              </a:xfrm>
              <a:prstGeom prst="rect">
                <a:avLst/>
              </a:prstGeom>
              <a:blipFill>
                <a:blip r:embed="rId5"/>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692FD6-422C-5930-99AA-2295589C2A5F}"/>
                  </a:ext>
                </a:extLst>
              </p:cNvPr>
              <p:cNvSpPr txBox="1"/>
              <p:nvPr/>
            </p:nvSpPr>
            <p:spPr>
              <a:xfrm>
                <a:off x="892271" y="3418287"/>
                <a:ext cx="1892710" cy="369332"/>
              </a:xfrm>
              <a:prstGeom prst="rect">
                <a:avLst/>
              </a:prstGeom>
              <a:noFill/>
            </p:spPr>
            <p:txBody>
              <a:bodyPr wrap="square" rtlCol="0">
                <a:spAutoFit/>
              </a:bodyPr>
              <a:lstStyle/>
              <a:p>
                <a:pPr/>
                <a14:m>
                  <m:oMathPara xmlns:m="http://schemas.openxmlformats.org/officeDocument/2006/math">
                    <m:oMath>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𝐾</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𝛥𝜃</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02692FD6-422C-5930-99AA-2295589C2A5F}"/>
                  </a:ext>
                </a:extLst>
              </p:cNvPr>
              <p:cNvSpPr txBox="1">
                <a:spLocks noRot="1" noChangeAspect="1" noMove="1" noResize="1" noEditPoints="1" noAdjustHandles="1" noChangeArrowheads="1" noChangeShapeType="1" noTextEdit="1"/>
              </p:cNvSpPr>
              <p:nvPr/>
            </p:nvSpPr>
            <p:spPr>
              <a:xfrm>
                <a:off x="892271" y="3418287"/>
                <a:ext cx="1892710" cy="369332"/>
              </a:xfrm>
              <a:prstGeom prst="rect">
                <a:avLst/>
              </a:prstGeom>
              <a:blipFill>
                <a:blip r:embed="rId6"/>
                <a:stretch>
                  <a:fillRect/>
                </a:stretch>
              </a:blipFill>
            </p:spPr>
            <p:txBody>
              <a:bodyPr/>
              <a:lstStyle/>
              <a:p>
                <a:r>
                  <a:rPr lang="id-ID">
                    <a:noFill/>
                  </a:rPr>
                  <a:t> </a:t>
                </a:r>
              </a:p>
            </p:txBody>
          </p:sp>
        </mc:Fallback>
      </mc:AlternateContent>
      <p:sp>
        <p:nvSpPr>
          <p:cNvPr id="6" name="TextBox 5">
            <a:extLst>
              <a:ext uri="{FF2B5EF4-FFF2-40B4-BE49-F238E27FC236}">
                <a16:creationId xmlns:a16="http://schemas.microsoft.com/office/drawing/2014/main" id="{D96ACC55-CD8A-A91A-78BC-EDDE60D86926}"/>
              </a:ext>
            </a:extLst>
          </p:cNvPr>
          <p:cNvSpPr txBox="1"/>
          <p:nvPr/>
        </p:nvSpPr>
        <p:spPr>
          <a:xfrm>
            <a:off x="2378950" y="2003852"/>
            <a:ext cx="8687262" cy="1200329"/>
          </a:xfrm>
          <a:prstGeom prst="rect">
            <a:avLst/>
          </a:prstGeom>
          <a:noFill/>
        </p:spPr>
        <p:txBody>
          <a:bodyPr wrap="square" rtlCol="0">
            <a:spAutoFit/>
          </a:bodyPr>
          <a:lstStyle/>
          <a:p>
            <a:pPr marL="285750" indent="-285750">
              <a:buFont typeface="Wingdings" panose="05000000000000000000" pitchFamily="2" charset="2"/>
              <a:buChar char="è"/>
            </a:pP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Rumus bagian ini menjelaskan tentang Hukum Newton Pertama, 	mengapa ada bagian ini? Hukum Newton 1 menyatakan: </a:t>
            </a:r>
          </a:p>
          <a:p>
            <a:pPr lvl="1"/>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“Benda yang sedang bergerak akan terus bergerak dengan 	kecepatan yang sama kecuali ada gaya yang mengganggu.”</a:t>
            </a:r>
          </a:p>
        </p:txBody>
      </p:sp>
      <p:sp>
        <p:nvSpPr>
          <p:cNvPr id="8" name="TextBox 7">
            <a:extLst>
              <a:ext uri="{FF2B5EF4-FFF2-40B4-BE49-F238E27FC236}">
                <a16:creationId xmlns:a16="http://schemas.microsoft.com/office/drawing/2014/main" id="{345AAE2A-A49F-906A-F21B-55C892403C23}"/>
              </a:ext>
            </a:extLst>
          </p:cNvPr>
          <p:cNvSpPr txBox="1"/>
          <p:nvPr/>
        </p:nvSpPr>
        <p:spPr>
          <a:xfrm>
            <a:off x="2489787" y="2367169"/>
            <a:ext cx="8687262" cy="1754326"/>
          </a:xfrm>
          <a:prstGeom prst="rect">
            <a:avLst/>
          </a:prstGeom>
          <a:noFill/>
        </p:spPr>
        <p:txBody>
          <a:bodyPr wrap="square" rtlCol="0">
            <a:spAutoFit/>
          </a:bodyPr>
          <a:lstStyle/>
          <a:p>
            <a:pPr marL="285750" indent="-285750">
              <a:buFont typeface="Wingdings" panose="05000000000000000000" pitchFamily="2" charset="2"/>
              <a:buChar char="è"/>
            </a:pP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Rumus bagian ini adalah Gravitasi Menarik Menara, 	mengapa ditambahkan bagian ini? Menara turbin angin berdiri tegak di atas laut. Begitu menara miring sedikit ke kanan, gravitasi bumi akan ikut menarik menara itu makin jatuh ke kanan.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Artinya, Gravitasi memberikan percepatan selama rentang waktu singkat </a:t>
            </a:r>
            <a:r>
              <a:rPr lang="sv-SE"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yang menambah kecepatan jatuh menara.</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974DE3-CD31-0E36-422D-FF5D849FFAA4}"/>
                  </a:ext>
                </a:extLst>
              </p:cNvPr>
              <p:cNvSpPr txBox="1"/>
              <p:nvPr/>
            </p:nvSpPr>
            <p:spPr>
              <a:xfrm>
                <a:off x="2784981" y="2765182"/>
                <a:ext cx="8687262" cy="2614305"/>
              </a:xfrm>
              <a:prstGeom prst="rect">
                <a:avLst/>
              </a:prstGeom>
              <a:noFill/>
            </p:spPr>
            <p:txBody>
              <a:bodyPr wrap="square" rtlCol="0">
                <a:spAutoFit/>
              </a:bodyPr>
              <a:lstStyle/>
              <a:p>
                <a:pPr marL="285750" indent="-285750">
                  <a:buFont typeface="Wingdings" panose="05000000000000000000" pitchFamily="2" charset="2"/>
                  <a:buChar char="è"/>
                </a:pP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Mengapa ada bentuk aneh ini? Angin di laut tidak pernah bertiup konstan. Angin bertiup dalam bentuk hembusan acak </a:t>
                </a:r>
                <a:r>
                  <a:rPr lang="id-ID" b="1" i="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(turbulence).</a:t>
                </a: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Artinya, angin badai menendang menara secara acak di setiap detik.</a:t>
                </a:r>
              </a:p>
              <a:p>
                <a:pPr marL="285750" indent="-285750">
                  <a:buFont typeface="Wingdings" panose="05000000000000000000" pitchFamily="2" charset="2"/>
                  <a:buChar char="è"/>
                </a:pP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14:m>
                  <m:oMath xmlns:m="http://schemas.openxmlformats.org/officeDocument/2006/math">
                    <m:r>
                      <a:rPr lang="sv-SE"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𝝈</m:t>
                    </m:r>
                  </m:oMath>
                </a14:m>
                <a:r>
                  <a:rPr lang="id-ID" b="1" dirty="0">
                    <a:gradFill>
                      <a:gsLst>
                        <a:gs pos="84000">
                          <a:srgbClr val="5ECC94"/>
                        </a:gs>
                        <a:gs pos="0">
                          <a:schemeClr val="accent1">
                            <a:lumMod val="5000"/>
                            <a:lumOff val="95000"/>
                          </a:schemeClr>
                        </a:gs>
                        <a:gs pos="100000">
                          <a:srgbClr val="00B050"/>
                        </a:gs>
                      </a:gsLst>
                      <a:lin ang="5400000" scaled="1"/>
                    </a:gradFill>
                    <a:latin typeface="+mj-lt"/>
                    <a:ea typeface="Cambria Math" panose="02040503050406030204" pitchFamily="18" charset="0"/>
                    <a:cs typeface="HYWenHei-85W" panose="00020600040101010101" pitchFamily="18" charset="-128"/>
                  </a:rPr>
                  <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Adalah seberapa kencang badainya.</a:t>
                </a:r>
              </a:p>
              <a:p>
                <a14:m>
                  <m:oMath xmlns:m="http://schemas.openxmlformats.org/officeDocument/2006/math">
                    <m:r>
                      <a:rPr lang="sv-SE"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𝚴</m:t>
                    </m:r>
                    <m:r>
                      <a:rPr lang="sv-SE"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m:t>
                    </m:r>
                    <m:r>
                      <a:rPr lang="sv-SE"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𝟎</m:t>
                    </m:r>
                    <m:r>
                      <a:rPr lang="sv-SE"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m:t>
                    </m:r>
                    <m:r>
                      <a:rPr lang="sv-SE"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𝟏</m:t>
                    </m:r>
                    <m:r>
                      <a:rPr lang="sv-SE"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m:t>
                    </m:r>
                  </m:oMath>
                </a14:m>
                <a:r>
                  <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rPr>
                  <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Adalah lemparan dadu acak: apakah angin menendang ke kanan (positif) atau ke kiri (negatif)?</a:t>
                </a:r>
              </a:p>
              <a:p>
                <a14:m>
                  <m:oMath xmlns:m="http://schemas.openxmlformats.org/officeDocument/2006/math">
                    <m:rad>
                      <m:radPr>
                        <m:degHide m:val="on"/>
                        <m:ctrlPr>
                          <a:rPr lang="sv-SE"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radPr>
                      <m:deg/>
                      <m:e>
                        <m:r>
                          <a:rPr lang="sv-SE"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e>
                    </m:rad>
                  </m:oMath>
                </a14:m>
                <a:r>
                  <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rPr>
                  <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Adalah rumus fisika Einstein untuk menghitung akumulasi rembetan acak seiring waktu.</a:t>
                </a:r>
                <a:endParaRPr lang="sv-SE"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0" name="TextBox 9">
                <a:extLst>
                  <a:ext uri="{FF2B5EF4-FFF2-40B4-BE49-F238E27FC236}">
                    <a16:creationId xmlns:a16="http://schemas.microsoft.com/office/drawing/2014/main" id="{18974DE3-CD31-0E36-422D-FF5D849FFAA4}"/>
                  </a:ext>
                </a:extLst>
              </p:cNvPr>
              <p:cNvSpPr txBox="1">
                <a:spLocks noRot="1" noChangeAspect="1" noMove="1" noResize="1" noEditPoints="1" noAdjustHandles="1" noChangeArrowheads="1" noChangeShapeType="1" noTextEdit="1"/>
              </p:cNvSpPr>
              <p:nvPr/>
            </p:nvSpPr>
            <p:spPr>
              <a:xfrm>
                <a:off x="2784981" y="2765182"/>
                <a:ext cx="8687262" cy="2614305"/>
              </a:xfrm>
              <a:prstGeom prst="rect">
                <a:avLst/>
              </a:prstGeom>
              <a:blipFill>
                <a:blip r:embed="rId7"/>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38B7C7D-6B20-0CF7-73A4-E1093F449205}"/>
                  </a:ext>
                </a:extLst>
              </p:cNvPr>
              <p:cNvSpPr txBox="1"/>
              <p:nvPr/>
            </p:nvSpPr>
            <p:spPr>
              <a:xfrm>
                <a:off x="2400913" y="3438672"/>
                <a:ext cx="8687262" cy="2585323"/>
              </a:xfrm>
              <a:prstGeom prst="rect">
                <a:avLst/>
              </a:prstGeom>
              <a:noFill/>
            </p:spPr>
            <p:txBody>
              <a:bodyPr wrap="square" rtlCol="0">
                <a:spAutoFit/>
              </a:bodyPr>
              <a:lstStyle/>
              <a:p>
                <a:pPr marL="285750" indent="-285750">
                  <a:buFont typeface="Wingdings" panose="05000000000000000000" pitchFamily="2" charset="2"/>
                  <a:buChar char="è"/>
                </a:pP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Solusi Penyelamat 1: Karet Gelang Penarik. Tetapi, mengapa dikurangi? </a:t>
                </a:r>
                <a:r>
                  <a:rPr lang="fi-FI"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Ini adalah bagian dari rem pintar buatan k</a:t>
                </a: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ami!</a:t>
                </a:r>
              </a:p>
              <a:p>
                <a14:m>
                  <m:oMath xmlns:m="http://schemas.openxmlformats.org/officeDocument/2006/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𝚫</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𝜽</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 </m:t>
                    </m:r>
                  </m:oMath>
                </a14:m>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Artinya seberapa miring menara dari titik tegak </a:t>
                </a:r>
                <a:r>
                  <a:rPr lang="sv-SE"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Jika menara miring semakin jauh ke kanan</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(positif) komputer kita menghitung gaya penahan yang semakin keras ke kiri (negatif). Artinya, bagian ini bekerja persis seperti Karet Gelang. Semakin jauh menara miring ke kanan, semakin kencang karet gelang menariknya kembali ke posisi tegak di tengah.</a:t>
                </a:r>
              </a:p>
              <a:p>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4" name="TextBox 13">
                <a:extLst>
                  <a:ext uri="{FF2B5EF4-FFF2-40B4-BE49-F238E27FC236}">
                    <a16:creationId xmlns:a16="http://schemas.microsoft.com/office/drawing/2014/main" id="{A38B7C7D-6B20-0CF7-73A4-E1093F449205}"/>
                  </a:ext>
                </a:extLst>
              </p:cNvPr>
              <p:cNvSpPr txBox="1">
                <a:spLocks noRot="1" noChangeAspect="1" noMove="1" noResize="1" noEditPoints="1" noAdjustHandles="1" noChangeArrowheads="1" noChangeShapeType="1" noTextEdit="1"/>
              </p:cNvSpPr>
              <p:nvPr/>
            </p:nvSpPr>
            <p:spPr>
              <a:xfrm>
                <a:off x="2400913" y="3438672"/>
                <a:ext cx="8687262" cy="2585323"/>
              </a:xfrm>
              <a:prstGeom prst="rect">
                <a:avLst/>
              </a:prstGeom>
              <a:blipFill>
                <a:blip r:embed="rId8"/>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CE9EB37-4EF3-3A24-68F2-D0CC2A9292DC}"/>
                  </a:ext>
                </a:extLst>
              </p:cNvPr>
              <p:cNvSpPr txBox="1"/>
              <p:nvPr/>
            </p:nvSpPr>
            <p:spPr>
              <a:xfrm>
                <a:off x="2423387" y="3071163"/>
                <a:ext cx="8687262" cy="2308324"/>
              </a:xfrm>
              <a:prstGeom prst="rect">
                <a:avLst/>
              </a:prstGeom>
              <a:noFill/>
            </p:spPr>
            <p:txBody>
              <a:bodyPr wrap="square" rtlCol="0">
                <a:spAutoFit/>
              </a:bodyPr>
              <a:lstStyle/>
              <a:p>
                <a:pPr marL="285750" indent="-285750">
                  <a:buFont typeface="Wingdings" panose="05000000000000000000" pitchFamily="2" charset="2"/>
                  <a:buChar char="è"/>
                </a:pPr>
                <a:r>
                  <a:rPr lang="fi-FI"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Solusi Penyelamat 2: Peredam Kejut</a:t>
                </a: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Tetapi, mengapa butuh ini juga? Karet gelang saja tidak cukup! Jika kamu hanya pakai karet gelang, saat menara ditarik kembali ke tengah, menara akan meluncur terlalu cepat dan kebablasan miring ke kiri! </a:t>
                </a:r>
              </a:p>
              <a:p>
                <a14:m>
                  <m:oMath xmlns:m="http://schemas.openxmlformats.org/officeDocument/2006/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𝚫</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𝝎</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 </m:t>
                    </m:r>
                  </m:oMath>
                </a14:m>
                <a:r>
                  <a:rPr lang="sv-SE"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adalah seberapa cepat menara sedang bergerak.</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r>
                  <a:rPr lang="sv-SE"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Komputer kita membaca kecepatan itu dan memberikan gaya tahanan sebanding dengan kecepatannya</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5" name="TextBox 14">
                <a:extLst>
                  <a:ext uri="{FF2B5EF4-FFF2-40B4-BE49-F238E27FC236}">
                    <a16:creationId xmlns:a16="http://schemas.microsoft.com/office/drawing/2014/main" id="{5CE9EB37-4EF3-3A24-68F2-D0CC2A9292DC}"/>
                  </a:ext>
                </a:extLst>
              </p:cNvPr>
              <p:cNvSpPr txBox="1">
                <a:spLocks noRot="1" noChangeAspect="1" noMove="1" noResize="1" noEditPoints="1" noAdjustHandles="1" noChangeArrowheads="1" noChangeShapeType="1" noTextEdit="1"/>
              </p:cNvSpPr>
              <p:nvPr/>
            </p:nvSpPr>
            <p:spPr>
              <a:xfrm>
                <a:off x="2423387" y="3071163"/>
                <a:ext cx="8687262" cy="2308324"/>
              </a:xfrm>
              <a:prstGeom prst="rect">
                <a:avLst/>
              </a:prstGeom>
              <a:blipFill>
                <a:blip r:embed="rId9"/>
                <a:stretch>
                  <a:fillRect/>
                </a:stretch>
              </a:blipFill>
            </p:spPr>
            <p:txBody>
              <a:bodyPr/>
              <a:lstStyle/>
              <a:p>
                <a:r>
                  <a:rPr lang="id-ID">
                    <a:noFill/>
                  </a:rPr>
                  <a:t> </a:t>
                </a:r>
              </a:p>
            </p:txBody>
          </p:sp>
        </mc:Fallback>
      </mc:AlternateContent>
    </p:spTree>
    <p:extLst>
      <p:ext uri="{BB962C8B-B14F-4D97-AF65-F5344CB8AC3E}">
        <p14:creationId xmlns:p14="http://schemas.microsoft.com/office/powerpoint/2010/main" val="1949291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2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iterate type="wd">
                                    <p:tmPct val="0"/>
                                  </p:iterate>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grpId="0" nodeType="afterEffect">
                                  <p:stCondLst>
                                    <p:cond delay="0"/>
                                  </p:stCondLst>
                                  <p:iterate type="wd">
                                    <p:tmPct val="2000"/>
                                  </p:iterate>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iterate type="wd">
                                    <p:tmPct val="0"/>
                                  </p:iterate>
                                  <p:childTnLst>
                                    <p:animEffect transition="out" filter="fad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grpId="0" nodeType="afterEffect">
                                  <p:stCondLst>
                                    <p:cond delay="0"/>
                                  </p:stCondLst>
                                  <p:iterate type="wd">
                                    <p:tmPct val="2000"/>
                                  </p:iterate>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1" nodeType="clickEffect">
                                  <p:stCondLst>
                                    <p:cond delay="0"/>
                                  </p:stCondLst>
                                  <p:iterate type="wd">
                                    <p:tmPct val="0"/>
                                  </p:iterate>
                                  <p:childTnLst>
                                    <p:animEffect transition="out" filter="fade">
                                      <p:cBhvr>
                                        <p:cTn id="29" dur="500"/>
                                        <p:tgtEl>
                                          <p:spTgt spid="10"/>
                                        </p:tgtEl>
                                      </p:cBhvr>
                                    </p:animEffect>
                                    <p:set>
                                      <p:cBhvr>
                                        <p:cTn id="30" dur="1" fill="hold">
                                          <p:stCondLst>
                                            <p:cond delay="499"/>
                                          </p:stCondLst>
                                        </p:cTn>
                                        <p:tgtEl>
                                          <p:spTgt spid="10"/>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grpId="0" nodeType="afterEffect">
                                  <p:stCondLst>
                                    <p:cond delay="0"/>
                                  </p:stCondLst>
                                  <p:iterate type="wd">
                                    <p:tmPct val="2000"/>
                                  </p:iterate>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1" nodeType="clickEffect">
                                  <p:stCondLst>
                                    <p:cond delay="0"/>
                                  </p:stCondLst>
                                  <p:iterate type="wd">
                                    <p:tmPct val="0"/>
                                  </p:iterate>
                                  <p:childTnLst>
                                    <p:animEffect transition="out" filter="fade">
                                      <p:cBhvr>
                                        <p:cTn id="38" dur="500"/>
                                        <p:tgtEl>
                                          <p:spTgt spid="14"/>
                                        </p:tgtEl>
                                      </p:cBhvr>
                                    </p:animEffect>
                                    <p:set>
                                      <p:cBhvr>
                                        <p:cTn id="39" dur="1" fill="hold">
                                          <p:stCondLst>
                                            <p:cond delay="499"/>
                                          </p:stCondLst>
                                        </p:cTn>
                                        <p:tgtEl>
                                          <p:spTgt spid="14"/>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grpId="0" nodeType="afterEffect">
                                  <p:stCondLst>
                                    <p:cond delay="0"/>
                                  </p:stCondLst>
                                  <p:iterate type="wd">
                                    <p:tmPct val="2000"/>
                                  </p:iterate>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iterate type="wd">
                                    <p:tmPct val="0"/>
                                  </p:iterate>
                                  <p:childTnLst>
                                    <p:animEffect transition="out" filter="fade">
                                      <p:cBhvr>
                                        <p:cTn id="47" dur="500"/>
                                        <p:tgtEl>
                                          <p:spTgt spid="15"/>
                                        </p:tgtEl>
                                      </p:cBhvr>
                                    </p:animEffect>
                                    <p:set>
                                      <p:cBhvr>
                                        <p:cTn id="48"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P spid="10" grpId="0"/>
      <p:bldP spid="10" grpId="1"/>
      <p:bldP spid="14" grpId="0"/>
      <p:bldP spid="14" grpId="1"/>
      <p:bldP spid="15" grpId="0"/>
      <p:bldP spid="15"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A958DC99-49DF-C0E1-40B6-1A0ADD2BC49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FE6BFF6-0EDF-D1EE-FAD1-F5B295F19D3A}"/>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extBox 1">
            <a:extLst>
              <a:ext uri="{FF2B5EF4-FFF2-40B4-BE49-F238E27FC236}">
                <a16:creationId xmlns:a16="http://schemas.microsoft.com/office/drawing/2014/main" id="{25C353AC-8131-4C72-7009-5925DC58F28E}"/>
              </a:ext>
            </a:extLst>
          </p:cNvPr>
          <p:cNvSpPr txBox="1"/>
          <p:nvPr/>
        </p:nvSpPr>
        <p:spPr>
          <a:xfrm>
            <a:off x="4572001" y="491301"/>
            <a:ext cx="3047998"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[1]</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D83181D-B323-2517-28B9-C1172D5AE71F}"/>
                  </a:ext>
                </a:extLst>
              </p:cNvPr>
              <p:cNvSpPr txBox="1"/>
              <p:nvPr/>
            </p:nvSpPr>
            <p:spPr>
              <a:xfrm>
                <a:off x="1125788" y="1989146"/>
                <a:ext cx="1406013" cy="369332"/>
              </a:xfrm>
              <a:prstGeom prst="rect">
                <a:avLst/>
              </a:prstGeom>
              <a:noFill/>
            </p:spPr>
            <p:txBody>
              <a:bodyPr wrap="square" rtlCol="0">
                <a:spAutoFit/>
              </a:bodyPr>
              <a:lstStyle/>
              <a:p>
                <a:pPr/>
                <a14:m>
                  <m:oMathPara xmlns:m="http://schemas.openxmlformats.org/officeDocument/2006/math">
                    <m:oMath>
                      <m:sSub>
                        <m:sSubPr>
                          <m:ctrlPr>
                            <a:rPr lang="id-ID"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𝜔</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+1</m:t>
                          </m:r>
                        </m:sub>
                      </m:s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m:t>
                      </m:r>
                      <m:sSub>
                        <m:sSubPr>
                          <m:ctrlP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𝜔</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sub>
                      </m:sSub>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3" name="TextBox 2">
                <a:extLst>
                  <a:ext uri="{FF2B5EF4-FFF2-40B4-BE49-F238E27FC236}">
                    <a16:creationId xmlns:a16="http://schemas.microsoft.com/office/drawing/2014/main" id="{4D83181D-B323-2517-28B9-C1172D5AE71F}"/>
                  </a:ext>
                </a:extLst>
              </p:cNvPr>
              <p:cNvSpPr txBox="1">
                <a:spLocks noRot="1" noChangeAspect="1" noMove="1" noResize="1" noEditPoints="1" noAdjustHandles="1" noChangeArrowheads="1" noChangeShapeType="1" noTextEdit="1"/>
              </p:cNvSpPr>
              <p:nvPr/>
            </p:nvSpPr>
            <p:spPr>
              <a:xfrm>
                <a:off x="1125788" y="1989146"/>
                <a:ext cx="1406013" cy="369332"/>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73EFEB3-40CD-714D-35D8-C7867A957AE2}"/>
                  </a:ext>
                </a:extLst>
              </p:cNvPr>
              <p:cNvSpPr txBox="1"/>
              <p:nvPr/>
            </p:nvSpPr>
            <p:spPr>
              <a:xfrm>
                <a:off x="994900" y="2368899"/>
                <a:ext cx="1406013" cy="369332"/>
              </a:xfrm>
              <a:prstGeom prst="rect">
                <a:avLst/>
              </a:prstGeom>
              <a:noFill/>
            </p:spPr>
            <p:txBody>
              <a:bodyPr wrap="square" rtlCol="0">
                <a:spAutoFit/>
              </a:bodyPr>
              <a:lstStyle/>
              <a:p>
                <a:pPr/>
                <a14:m>
                  <m:oMathPara xmlns:m="http://schemas.openxmlformats.org/officeDocument/2006/math">
                    <m:oMath>
                      <m:r>
                        <a:rPr lang="id-ID" b="0"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𝛼</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sub>
                      </m:s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m:t>
                      </m:r>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7" name="TextBox 6">
                <a:extLst>
                  <a:ext uri="{FF2B5EF4-FFF2-40B4-BE49-F238E27FC236}">
                    <a16:creationId xmlns:a16="http://schemas.microsoft.com/office/drawing/2014/main" id="{873EFEB3-40CD-714D-35D8-C7867A957AE2}"/>
                  </a:ext>
                </a:extLst>
              </p:cNvPr>
              <p:cNvSpPr txBox="1">
                <a:spLocks noRot="1" noChangeAspect="1" noMove="1" noResize="1" noEditPoints="1" noAdjustHandles="1" noChangeArrowheads="1" noChangeShapeType="1" noTextEdit="1"/>
              </p:cNvSpPr>
              <p:nvPr/>
            </p:nvSpPr>
            <p:spPr>
              <a:xfrm>
                <a:off x="994900" y="2368899"/>
                <a:ext cx="1406013"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A678A57-EC0C-35F5-BDA0-896067690D09}"/>
                  </a:ext>
                </a:extLst>
              </p:cNvPr>
              <p:cNvSpPr txBox="1"/>
              <p:nvPr/>
            </p:nvSpPr>
            <p:spPr>
              <a:xfrm>
                <a:off x="1076628" y="2698903"/>
                <a:ext cx="1892710" cy="407484"/>
              </a:xfrm>
              <a:prstGeom prst="rect">
                <a:avLst/>
              </a:prstGeom>
              <a:noFill/>
            </p:spPr>
            <p:txBody>
              <a:bodyPr wrap="square" rtlCol="0">
                <a:spAutoFit/>
              </a:bodyPr>
              <a:lstStyle/>
              <a:p>
                <a:pPr/>
                <a14:m>
                  <m:oMathPara xmlns:m="http://schemas.openxmlformats.org/officeDocument/2006/math">
                    <m:oMath>
                      <m: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𝜎</m:t>
                      </m:r>
                      <m:rad>
                        <m:radPr>
                          <m:degHide m:val="on"/>
                          <m:ctrlP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ctrlPr>
                        </m:radPr>
                        <m:deg/>
                        <m:e>
                          <m:r>
                            <a:rPr lang="id-ID" b="0"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e>
                      </m:rad>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𝑁</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(0,1)</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9" name="TextBox 8">
                <a:extLst>
                  <a:ext uri="{FF2B5EF4-FFF2-40B4-BE49-F238E27FC236}">
                    <a16:creationId xmlns:a16="http://schemas.microsoft.com/office/drawing/2014/main" id="{FA678A57-EC0C-35F5-BDA0-896067690D09}"/>
                  </a:ext>
                </a:extLst>
              </p:cNvPr>
              <p:cNvSpPr txBox="1">
                <a:spLocks noRot="1" noChangeAspect="1" noMove="1" noResize="1" noEditPoints="1" noAdjustHandles="1" noChangeArrowheads="1" noChangeShapeType="1" noTextEdit="1"/>
              </p:cNvSpPr>
              <p:nvPr/>
            </p:nvSpPr>
            <p:spPr>
              <a:xfrm>
                <a:off x="1076628" y="2698903"/>
                <a:ext cx="1892710" cy="407484"/>
              </a:xfrm>
              <a:prstGeom prst="rect">
                <a:avLst/>
              </a:prstGeom>
              <a:blipFill>
                <a:blip r:embed="rId4"/>
                <a:stretch>
                  <a:fillRect b="-10448"/>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E4C3AC1-E557-ED92-8E6A-4079A54AD015}"/>
                  </a:ext>
                </a:extLst>
              </p:cNvPr>
              <p:cNvSpPr txBox="1"/>
              <p:nvPr/>
            </p:nvSpPr>
            <p:spPr>
              <a:xfrm>
                <a:off x="921767" y="3059666"/>
                <a:ext cx="1892710" cy="369332"/>
              </a:xfrm>
              <a:prstGeom prst="rect">
                <a:avLst/>
              </a:prstGeom>
              <a:noFill/>
            </p:spPr>
            <p:txBody>
              <a:bodyPr wrap="square" rtlCol="0">
                <a:spAutoFit/>
              </a:bodyPr>
              <a:lstStyle/>
              <a:p>
                <a:pPr/>
                <a14:m>
                  <m:oMathPara xmlns:m="http://schemas.openxmlformats.org/officeDocument/2006/math">
                    <m:oMath>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𝐾</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𝛥𝜔</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1" name="TextBox 10">
                <a:extLst>
                  <a:ext uri="{FF2B5EF4-FFF2-40B4-BE49-F238E27FC236}">
                    <a16:creationId xmlns:a16="http://schemas.microsoft.com/office/drawing/2014/main" id="{2E4C3AC1-E557-ED92-8E6A-4079A54AD015}"/>
                  </a:ext>
                </a:extLst>
              </p:cNvPr>
              <p:cNvSpPr txBox="1">
                <a:spLocks noRot="1" noChangeAspect="1" noMove="1" noResize="1" noEditPoints="1" noAdjustHandles="1" noChangeArrowheads="1" noChangeShapeType="1" noTextEdit="1"/>
              </p:cNvSpPr>
              <p:nvPr/>
            </p:nvSpPr>
            <p:spPr>
              <a:xfrm>
                <a:off x="921767" y="3059666"/>
                <a:ext cx="1892710" cy="369332"/>
              </a:xfrm>
              <a:prstGeom prst="rect">
                <a:avLst/>
              </a:prstGeom>
              <a:blipFill>
                <a:blip r:embed="rId5"/>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D637E32-E869-FDEA-7A42-F7D5122F93C9}"/>
                  </a:ext>
                </a:extLst>
              </p:cNvPr>
              <p:cNvSpPr txBox="1"/>
              <p:nvPr/>
            </p:nvSpPr>
            <p:spPr>
              <a:xfrm>
                <a:off x="892271" y="3418287"/>
                <a:ext cx="1892710" cy="369332"/>
              </a:xfrm>
              <a:prstGeom prst="rect">
                <a:avLst/>
              </a:prstGeom>
              <a:noFill/>
            </p:spPr>
            <p:txBody>
              <a:bodyPr wrap="square" rtlCol="0">
                <a:spAutoFit/>
              </a:bodyPr>
              <a:lstStyle/>
              <a:p>
                <a:pPr/>
                <a14:m>
                  <m:oMathPara xmlns:m="http://schemas.openxmlformats.org/officeDocument/2006/math">
                    <m:oMath>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𝐾</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𝛥𝜃</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2D637E32-E869-FDEA-7A42-F7D5122F93C9}"/>
                  </a:ext>
                </a:extLst>
              </p:cNvPr>
              <p:cNvSpPr txBox="1">
                <a:spLocks noRot="1" noChangeAspect="1" noMove="1" noResize="1" noEditPoints="1" noAdjustHandles="1" noChangeArrowheads="1" noChangeShapeType="1" noTextEdit="1"/>
              </p:cNvSpPr>
              <p:nvPr/>
            </p:nvSpPr>
            <p:spPr>
              <a:xfrm>
                <a:off x="892271" y="3418287"/>
                <a:ext cx="1892710" cy="369332"/>
              </a:xfrm>
              <a:prstGeom prst="rect">
                <a:avLst/>
              </a:prstGeom>
              <a:blipFill>
                <a:blip r:embed="rId6"/>
                <a:stretch>
                  <a:fillRect/>
                </a:stretch>
              </a:blipFill>
            </p:spPr>
            <p:txBody>
              <a:bodyPr/>
              <a:lstStyle/>
              <a:p>
                <a:r>
                  <a:rPr lang="id-ID">
                    <a:noFill/>
                  </a:rPr>
                  <a:t> </a:t>
                </a:r>
              </a:p>
            </p:txBody>
          </p:sp>
        </mc:Fallback>
      </mc:AlternateContent>
      <p:sp>
        <p:nvSpPr>
          <p:cNvPr id="14" name="TextBox 13">
            <a:extLst>
              <a:ext uri="{FF2B5EF4-FFF2-40B4-BE49-F238E27FC236}">
                <a16:creationId xmlns:a16="http://schemas.microsoft.com/office/drawing/2014/main" id="{3AC750B5-6BEF-F87F-CCA8-D15BEA217D83}"/>
              </a:ext>
            </a:extLst>
          </p:cNvPr>
          <p:cNvSpPr txBox="1"/>
          <p:nvPr/>
        </p:nvSpPr>
        <p:spPr>
          <a:xfrm>
            <a:off x="2423029" y="3241872"/>
            <a:ext cx="8687262" cy="1477328"/>
          </a:xfrm>
          <a:prstGeom prst="rect">
            <a:avLst/>
          </a:prstGeom>
          <a:noFill/>
        </p:spPr>
        <p:txBody>
          <a:bodyPr wrap="square" rtlCol="0">
            <a:spAutoFit/>
          </a:bodyPr>
          <a:lstStyle/>
          <a:p>
            <a:pPr marL="285750" indent="-285750">
              <a:buFont typeface="Wingdings" panose="05000000000000000000" pitchFamily="2" charset="2"/>
              <a:buChar char="è"/>
            </a:pP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Tanpa solusi penyelamat ini, formula kami hanya akan menjadi simulasi fisika kuantum </a:t>
            </a:r>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yang tidak bisa terprediksi dan tidak optimal.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Variabel “K” di depan bisa </a:t>
            </a:r>
            <a:r>
              <a:rPr lang="id-ID" b="1">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diganti nilainya menjadi bilangan apapun, jika nilai K lebih tinggi, pengunaan daya juga lebih tinggi tetapi lebih stabil.</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
        <p:nvSpPr>
          <p:cNvPr id="4" name="TextBox 3">
            <a:extLst>
              <a:ext uri="{FF2B5EF4-FFF2-40B4-BE49-F238E27FC236}">
                <a16:creationId xmlns:a16="http://schemas.microsoft.com/office/drawing/2014/main" id="{F5CE7300-5BA9-543D-B9CD-B03938C1341C}"/>
              </a:ext>
            </a:extLst>
          </p:cNvPr>
          <p:cNvSpPr txBox="1"/>
          <p:nvPr/>
        </p:nvSpPr>
        <p:spPr>
          <a:xfrm>
            <a:off x="2711433" y="2315915"/>
            <a:ext cx="8687262" cy="646331"/>
          </a:xfrm>
          <a:prstGeom prst="rect">
            <a:avLst/>
          </a:prstGeom>
          <a:noFill/>
        </p:spPr>
        <p:txBody>
          <a:bodyPr wrap="square" rtlCol="0">
            <a:spAutoFit/>
          </a:bodyPr>
          <a:lstStyle/>
          <a:p>
            <a:pPr marL="285750" indent="-285750">
              <a:buFont typeface="Wingdings" panose="05000000000000000000" pitchFamily="2" charset="2"/>
              <a:buChar char="è"/>
            </a:pP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Ini karena 3 bagian di depan sini berdefinisi </a:t>
            </a:r>
            <a:r>
              <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“Uncontrolled Open-Loop Non-Linear Chaos”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karena istilah gravitasi non-linear.</a:t>
            </a:r>
            <a:endPar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
        <p:nvSpPr>
          <p:cNvPr id="16" name="Rectangle 15">
            <a:extLst>
              <a:ext uri="{FF2B5EF4-FFF2-40B4-BE49-F238E27FC236}">
                <a16:creationId xmlns:a16="http://schemas.microsoft.com/office/drawing/2014/main" id="{264ECACF-9901-0036-FA78-B2A8DE97B583}"/>
              </a:ext>
            </a:extLst>
          </p:cNvPr>
          <p:cNvSpPr/>
          <p:nvPr/>
        </p:nvSpPr>
        <p:spPr>
          <a:xfrm>
            <a:off x="1174532" y="1998979"/>
            <a:ext cx="1610449" cy="110740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Rectangle 17">
            <a:extLst>
              <a:ext uri="{FF2B5EF4-FFF2-40B4-BE49-F238E27FC236}">
                <a16:creationId xmlns:a16="http://schemas.microsoft.com/office/drawing/2014/main" id="{151C6CE7-3FD6-954F-4C49-7429E5AD1DFC}"/>
              </a:ext>
            </a:extLst>
          </p:cNvPr>
          <p:cNvSpPr/>
          <p:nvPr/>
        </p:nvSpPr>
        <p:spPr>
          <a:xfrm>
            <a:off x="1258529" y="3068235"/>
            <a:ext cx="1273272" cy="68219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989596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3000"/>
                                  </p:iterate>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iterate type="wd">
                                    <p:tmPct val="2000"/>
                                  </p:iterate>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iterate type="wd">
                                    <p:tmPct val="0"/>
                                  </p:iterate>
                                  <p:childTnLst>
                                    <p:animEffect transition="out" filter="fade">
                                      <p:cBhvr>
                                        <p:cTn id="15" dur="500"/>
                                        <p:tgtEl>
                                          <p:spTgt spid="14"/>
                                        </p:tgtEl>
                                      </p:cBhvr>
                                    </p:animEffect>
                                    <p:set>
                                      <p:cBhvr>
                                        <p:cTn id="16" dur="1" fill="hold">
                                          <p:stCondLst>
                                            <p:cond delay="499"/>
                                          </p:stCondLst>
                                        </p:cTn>
                                        <p:tgtEl>
                                          <p:spTgt spid="14"/>
                                        </p:tgtEl>
                                        <p:attrNameLst>
                                          <p:attrName>style.visibility</p:attrName>
                                        </p:attrNameLst>
                                      </p:cBhvr>
                                      <p:to>
                                        <p:strVal val="hidden"/>
                                      </p:to>
                                    </p:set>
                                  </p:childTnLst>
                                </p:cTn>
                              </p:par>
                              <p:par>
                                <p:cTn id="17" presetID="10" presetClass="exit" presetSubtype="0" fill="hold" grpId="1" nodeType="withEffect">
                                  <p:stCondLst>
                                    <p:cond delay="0"/>
                                  </p:stCondLst>
                                  <p:iterate type="lt">
                                    <p:tmPct val="0"/>
                                  </p:iterate>
                                  <p:childTnLst>
                                    <p:animEffect transition="out" filter="fad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childTnLst>
                          </p:cTn>
                        </p:par>
                        <p:par>
                          <p:cTn id="20" fill="hold">
                            <p:stCondLst>
                              <p:cond delay="500"/>
                            </p:stCondLst>
                            <p:childTnLst>
                              <p:par>
                                <p:cTn id="21" presetID="10" presetClass="entr" presetSubtype="0" fill="hold" grpId="0" nodeType="afterEffect">
                                  <p:stCondLst>
                                    <p:cond delay="0"/>
                                  </p:stCondLst>
                                  <p:iterate type="wd">
                                    <p:tmPct val="2000"/>
                                  </p:iterate>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par>
                          <p:cTn id="24" fill="hold">
                            <p:stCondLst>
                              <p:cond delay="1180"/>
                            </p:stCondLst>
                            <p:childTnLst>
                              <p:par>
                                <p:cTn id="25" presetID="10" presetClass="entr" presetSubtype="0" fill="hold" grpId="0" nodeType="afterEffect">
                                  <p:stCondLst>
                                    <p:cond delay="0"/>
                                  </p:stCondLst>
                                  <p:iterate type="lt">
                                    <p:tmPct val="3000"/>
                                  </p:iterate>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iterate type="wd">
                                    <p:tmPct val="0"/>
                                  </p:iterate>
                                  <p:childTnLst>
                                    <p:animEffect transition="out" filter="fade">
                                      <p:cBhvr>
                                        <p:cTn id="31" dur="500"/>
                                        <p:tgtEl>
                                          <p:spTgt spid="4"/>
                                        </p:tgtEl>
                                      </p:cBhvr>
                                    </p:animEffect>
                                    <p:set>
                                      <p:cBhvr>
                                        <p:cTn id="32" dur="1" fill="hold">
                                          <p:stCondLst>
                                            <p:cond delay="499"/>
                                          </p:stCondLst>
                                        </p:cTn>
                                        <p:tgtEl>
                                          <p:spTgt spid="4"/>
                                        </p:tgtEl>
                                        <p:attrNameLst>
                                          <p:attrName>style.visibility</p:attrName>
                                        </p:attrNameLst>
                                      </p:cBhvr>
                                      <p:to>
                                        <p:strVal val="hidden"/>
                                      </p:to>
                                    </p:set>
                                  </p:childTnLst>
                                </p:cTn>
                              </p:par>
                              <p:par>
                                <p:cTn id="33" presetID="10" presetClass="exit" presetSubtype="0" fill="hold" grpId="1" nodeType="withEffect">
                                  <p:stCondLst>
                                    <p:cond delay="0"/>
                                  </p:stCondLst>
                                  <p:iterate type="lt">
                                    <p:tmPct val="0"/>
                                  </p:iterate>
                                  <p:childTnLst>
                                    <p:animEffect transition="out" filter="fade">
                                      <p:cBhvr>
                                        <p:cTn id="34" dur="500"/>
                                        <p:tgtEl>
                                          <p:spTgt spid="16"/>
                                        </p:tgtEl>
                                      </p:cBhvr>
                                    </p:animEffect>
                                    <p:set>
                                      <p:cBhvr>
                                        <p:cTn id="35"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4" grpId="0"/>
      <p:bldP spid="4" grpId="1"/>
      <p:bldP spid="16" grpId="0" animBg="1"/>
      <p:bldP spid="16" grpId="1" animBg="1"/>
      <p:bldP spid="18" grpId="0" animBg="1"/>
      <p:bldP spid="18"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336AF5C8-DE7D-998E-BE2F-08018B1A15B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6C12BEE-42EC-DAD3-E105-465483DE07D4}"/>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extBox 1">
            <a:extLst>
              <a:ext uri="{FF2B5EF4-FFF2-40B4-BE49-F238E27FC236}">
                <a16:creationId xmlns:a16="http://schemas.microsoft.com/office/drawing/2014/main" id="{32BCB24B-939A-1261-AC63-D2D7F59038A3}"/>
              </a:ext>
            </a:extLst>
          </p:cNvPr>
          <p:cNvSpPr txBox="1"/>
          <p:nvPr/>
        </p:nvSpPr>
        <p:spPr>
          <a:xfrm>
            <a:off x="4729317" y="491301"/>
            <a:ext cx="273336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[1]</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90D687F-C941-63F8-47B1-7E8CA67AD7CE}"/>
                  </a:ext>
                </a:extLst>
              </p:cNvPr>
              <p:cNvSpPr txBox="1"/>
              <p:nvPr/>
            </p:nvSpPr>
            <p:spPr>
              <a:xfrm>
                <a:off x="2841524" y="2133600"/>
                <a:ext cx="1406013" cy="369332"/>
              </a:xfrm>
              <a:prstGeom prst="rect">
                <a:avLst/>
              </a:prstGeom>
              <a:noFill/>
            </p:spPr>
            <p:txBody>
              <a:bodyPr wrap="square" rtlCol="0">
                <a:spAutoFit/>
              </a:bodyPr>
              <a:lstStyle/>
              <a:p>
                <a:pPr/>
                <a14:m>
                  <m:oMathPara xmlns:m="http://schemas.openxmlformats.org/officeDocument/2006/math">
                    <m:oMath>
                      <m:sSub>
                        <m:sSubPr>
                          <m:ctrlPr>
                            <a:rPr lang="id-ID"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𝜔</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+1</m:t>
                          </m:r>
                        </m:sub>
                      </m:s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m:t>
                      </m:r>
                      <m:sSub>
                        <m:sSubPr>
                          <m:ctrlP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𝜔</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sub>
                      </m:sSub>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F90D687F-C941-63F8-47B1-7E8CA67AD7CE}"/>
                  </a:ext>
                </a:extLst>
              </p:cNvPr>
              <p:cNvSpPr txBox="1">
                <a:spLocks noRot="1" noChangeAspect="1" noMove="1" noResize="1" noEditPoints="1" noAdjustHandles="1" noChangeArrowheads="1" noChangeShapeType="1" noTextEdit="1"/>
              </p:cNvSpPr>
              <p:nvPr/>
            </p:nvSpPr>
            <p:spPr>
              <a:xfrm>
                <a:off x="2841524" y="2133600"/>
                <a:ext cx="1406013" cy="369332"/>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B3B7C1C-A67A-3F08-677F-723F4D31463B}"/>
                  </a:ext>
                </a:extLst>
              </p:cNvPr>
              <p:cNvSpPr txBox="1"/>
              <p:nvPr/>
            </p:nvSpPr>
            <p:spPr>
              <a:xfrm>
                <a:off x="3816759" y="2124062"/>
                <a:ext cx="1406013" cy="369332"/>
              </a:xfrm>
              <a:prstGeom prst="rect">
                <a:avLst/>
              </a:prstGeom>
              <a:noFill/>
            </p:spPr>
            <p:txBody>
              <a:bodyPr wrap="square" rtlCol="0">
                <a:spAutoFit/>
              </a:bodyPr>
              <a:lstStyle/>
              <a:p>
                <a:pPr/>
                <a14:m>
                  <m:oMathPara xmlns:m="http://schemas.openxmlformats.org/officeDocument/2006/math">
                    <m:oMath>
                      <m:r>
                        <a:rPr lang="id-ID" b="0"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ctrlPr>
                        </m:sSubPr>
                        <m:e>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𝛼</m:t>
                          </m:r>
                        </m:e>
                        <m: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𝑘</m:t>
                          </m:r>
                        </m:sub>
                      </m:sSub>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m:t>
                      </m:r>
                      <m:r>
                        <a:rPr lang="id-ID" b="0" i="1" smtClean="0">
                          <a:solidFill>
                            <a:schemeClr val="bg1"/>
                          </a:solidFill>
                          <a:latin typeface="Cambria Math" panose="02040503050406030204" pitchFamily="18" charset="0"/>
                          <a:ea typeface="Cambria Math" panose="02040503050406030204" pitchFamily="18" charset="0"/>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0" name="TextBox 9">
                <a:extLst>
                  <a:ext uri="{FF2B5EF4-FFF2-40B4-BE49-F238E27FC236}">
                    <a16:creationId xmlns:a16="http://schemas.microsoft.com/office/drawing/2014/main" id="{BB3B7C1C-A67A-3F08-677F-723F4D31463B}"/>
                  </a:ext>
                </a:extLst>
              </p:cNvPr>
              <p:cNvSpPr txBox="1">
                <a:spLocks noRot="1" noChangeAspect="1" noMove="1" noResize="1" noEditPoints="1" noAdjustHandles="1" noChangeArrowheads="1" noChangeShapeType="1" noTextEdit="1"/>
              </p:cNvSpPr>
              <p:nvPr/>
            </p:nvSpPr>
            <p:spPr>
              <a:xfrm>
                <a:off x="3816759" y="2124062"/>
                <a:ext cx="1406013"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A246CB-A85B-DC11-5FBF-D86584A28D57}"/>
                  </a:ext>
                </a:extLst>
              </p:cNvPr>
              <p:cNvSpPr txBox="1"/>
              <p:nvPr/>
            </p:nvSpPr>
            <p:spPr>
              <a:xfrm>
                <a:off x="4801826" y="2114524"/>
                <a:ext cx="1892710" cy="407484"/>
              </a:xfrm>
              <a:prstGeom prst="rect">
                <a:avLst/>
              </a:prstGeom>
              <a:noFill/>
            </p:spPr>
            <p:txBody>
              <a:bodyPr wrap="square" rtlCol="0">
                <a:spAutoFit/>
              </a:bodyPr>
              <a:lstStyle/>
              <a:p>
                <a:pPr/>
                <a14:m>
                  <m:oMathPara xmlns:m="http://schemas.openxmlformats.org/officeDocument/2006/math">
                    <m:oMath>
                      <m: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𝜎</m:t>
                      </m:r>
                      <m:rad>
                        <m:radPr>
                          <m:degHide m:val="on"/>
                          <m:ctrlPr>
                            <a:rPr lang="id-ID"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ctrlPr>
                        </m:radPr>
                        <m:deg/>
                        <m:e>
                          <m:r>
                            <a:rPr lang="id-ID" b="0" i="1" smtClean="0">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e>
                      </m:rad>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𝑁</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(0,1)</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2" name="TextBox 11">
                <a:extLst>
                  <a:ext uri="{FF2B5EF4-FFF2-40B4-BE49-F238E27FC236}">
                    <a16:creationId xmlns:a16="http://schemas.microsoft.com/office/drawing/2014/main" id="{52A246CB-A85B-DC11-5FBF-D86584A28D57}"/>
                  </a:ext>
                </a:extLst>
              </p:cNvPr>
              <p:cNvSpPr txBox="1">
                <a:spLocks noRot="1" noChangeAspect="1" noMove="1" noResize="1" noEditPoints="1" noAdjustHandles="1" noChangeArrowheads="1" noChangeShapeType="1" noTextEdit="1"/>
              </p:cNvSpPr>
              <p:nvPr/>
            </p:nvSpPr>
            <p:spPr>
              <a:xfrm>
                <a:off x="4801826" y="2114524"/>
                <a:ext cx="1892710" cy="407484"/>
              </a:xfrm>
              <a:prstGeom prst="rect">
                <a:avLst/>
              </a:prstGeom>
              <a:blipFill>
                <a:blip r:embed="rId4"/>
                <a:stretch>
                  <a:fillRect b="-10448"/>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D650F23-57BB-9A99-08D5-36814ED7E334}"/>
                  </a:ext>
                </a:extLst>
              </p:cNvPr>
              <p:cNvSpPr txBox="1"/>
              <p:nvPr/>
            </p:nvSpPr>
            <p:spPr>
              <a:xfrm>
                <a:off x="6224430" y="2143138"/>
                <a:ext cx="1892710" cy="369332"/>
              </a:xfrm>
              <a:prstGeom prst="rect">
                <a:avLst/>
              </a:prstGeom>
              <a:noFill/>
            </p:spPr>
            <p:txBody>
              <a:bodyPr wrap="square" rtlCol="0">
                <a:spAutoFit/>
              </a:bodyPr>
              <a:lstStyle/>
              <a:p>
                <a:pPr/>
                <a14:m>
                  <m:oMathPara xmlns:m="http://schemas.openxmlformats.org/officeDocument/2006/math">
                    <m:oMath>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𝐾</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𝛥𝜔</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5" name="TextBox 14">
                <a:extLst>
                  <a:ext uri="{FF2B5EF4-FFF2-40B4-BE49-F238E27FC236}">
                    <a16:creationId xmlns:a16="http://schemas.microsoft.com/office/drawing/2014/main" id="{0D650F23-57BB-9A99-08D5-36814ED7E334}"/>
                  </a:ext>
                </a:extLst>
              </p:cNvPr>
              <p:cNvSpPr txBox="1">
                <a:spLocks noRot="1" noChangeAspect="1" noMove="1" noResize="1" noEditPoints="1" noAdjustHandles="1" noChangeArrowheads="1" noChangeShapeType="1" noTextEdit="1"/>
              </p:cNvSpPr>
              <p:nvPr/>
            </p:nvSpPr>
            <p:spPr>
              <a:xfrm>
                <a:off x="6224430" y="2143138"/>
                <a:ext cx="1892710" cy="369332"/>
              </a:xfrm>
              <a:prstGeom prst="rect">
                <a:avLst/>
              </a:prstGeom>
              <a:blipFill>
                <a:blip r:embed="rId5"/>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DA45C43-9F6D-1733-E9DA-6A8D646ABED5}"/>
                  </a:ext>
                </a:extLst>
              </p:cNvPr>
              <p:cNvSpPr txBox="1"/>
              <p:nvPr/>
            </p:nvSpPr>
            <p:spPr>
              <a:xfrm>
                <a:off x="7509388" y="2133600"/>
                <a:ext cx="1892710" cy="369332"/>
              </a:xfrm>
              <a:prstGeom prst="rect">
                <a:avLst/>
              </a:prstGeom>
              <a:noFill/>
            </p:spPr>
            <p:txBody>
              <a:bodyPr wrap="square" rtlCol="0">
                <a:spAutoFit/>
              </a:bodyPr>
              <a:lstStyle/>
              <a:p>
                <a:pPr/>
                <a14:m>
                  <m:oMathPara xmlns:m="http://schemas.openxmlformats.org/officeDocument/2006/math">
                    <m:oMath>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𝐾</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𝛥𝜃</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m:t>
                      </m:r>
                      <m:r>
                        <a:rPr lang="id-ID" i="1">
                          <a:solidFill>
                            <a:schemeClr val="bg1"/>
                          </a:soli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6" name="TextBox 15">
                <a:extLst>
                  <a:ext uri="{FF2B5EF4-FFF2-40B4-BE49-F238E27FC236}">
                    <a16:creationId xmlns:a16="http://schemas.microsoft.com/office/drawing/2014/main" id="{2DA45C43-9F6D-1733-E9DA-6A8D646ABED5}"/>
                  </a:ext>
                </a:extLst>
              </p:cNvPr>
              <p:cNvSpPr txBox="1">
                <a:spLocks noRot="1" noChangeAspect="1" noMove="1" noResize="1" noEditPoints="1" noAdjustHandles="1" noChangeArrowheads="1" noChangeShapeType="1" noTextEdit="1"/>
              </p:cNvSpPr>
              <p:nvPr/>
            </p:nvSpPr>
            <p:spPr>
              <a:xfrm>
                <a:off x="7509388" y="2133600"/>
                <a:ext cx="1892710" cy="369332"/>
              </a:xfrm>
              <a:prstGeom prst="rect">
                <a:avLst/>
              </a:prstGeom>
              <a:blipFill>
                <a:blip r:embed="rId6"/>
                <a:stretch>
                  <a:fillRect/>
                </a:stretch>
              </a:blipFill>
            </p:spPr>
            <p:txBody>
              <a:bodyPr/>
              <a:lstStyle/>
              <a:p>
                <a:r>
                  <a:rPr lang="id-ID">
                    <a:noFill/>
                  </a:rPr>
                  <a:t> </a:t>
                </a:r>
              </a:p>
            </p:txBody>
          </p:sp>
        </mc:Fallback>
      </mc:AlternateContent>
      <p:sp>
        <p:nvSpPr>
          <p:cNvPr id="17" name="TextBox 16">
            <a:extLst>
              <a:ext uri="{FF2B5EF4-FFF2-40B4-BE49-F238E27FC236}">
                <a16:creationId xmlns:a16="http://schemas.microsoft.com/office/drawing/2014/main" id="{7239845D-E3C7-0AE2-EA46-302AD97BAE23}"/>
              </a:ext>
            </a:extLst>
          </p:cNvPr>
          <p:cNvSpPr txBox="1"/>
          <p:nvPr/>
        </p:nvSpPr>
        <p:spPr>
          <a:xfrm>
            <a:off x="3552821" y="3241872"/>
            <a:ext cx="5086359" cy="646331"/>
          </a:xfrm>
          <a:prstGeom prst="rect">
            <a:avLst/>
          </a:prstGeom>
          <a:noFill/>
        </p:spPr>
        <p:txBody>
          <a:bodyPr wrap="square" rtlCol="0">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Sekarang kita kembali ke rumus ini, kelihatannya tidak serumit itu, bukan?</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Tree>
    <p:extLst>
      <p:ext uri="{BB962C8B-B14F-4D97-AF65-F5344CB8AC3E}">
        <p14:creationId xmlns:p14="http://schemas.microsoft.com/office/powerpoint/2010/main" val="35684969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10000"/>
                                  </p:iterate>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iterate type="wd">
                                    <p:tmPct val="0"/>
                                  </p:iterate>
                                  <p:childTnLst>
                                    <p:animEffect transition="out" filter="fade">
                                      <p:cBhvr>
                                        <p:cTn id="11" dur="500"/>
                                        <p:tgtEl>
                                          <p:spTgt spid="17"/>
                                        </p:tgtEl>
                                      </p:cBhvr>
                                    </p:animEffect>
                                    <p:set>
                                      <p:cBhvr>
                                        <p:cTn id="12"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6A365024-5C80-FB42-7E14-52120173753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E5F2DE9-17C5-D6BA-FAA6-2AF6D49D3F7D}"/>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extBox 1">
            <a:extLst>
              <a:ext uri="{FF2B5EF4-FFF2-40B4-BE49-F238E27FC236}">
                <a16:creationId xmlns:a16="http://schemas.microsoft.com/office/drawing/2014/main" id="{8955FEBC-F3D2-FBC6-EC7C-8FE251B11234}"/>
              </a:ext>
            </a:extLst>
          </p:cNvPr>
          <p:cNvSpPr txBox="1"/>
          <p:nvPr/>
        </p:nvSpPr>
        <p:spPr>
          <a:xfrm>
            <a:off x="4820265" y="3423928"/>
            <a:ext cx="2654710"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[1]</a:t>
            </a:r>
          </a:p>
        </p:txBody>
      </p:sp>
      <p:sp>
        <p:nvSpPr>
          <p:cNvPr id="4" name="TextBox 3">
            <a:extLst>
              <a:ext uri="{FF2B5EF4-FFF2-40B4-BE49-F238E27FC236}">
                <a16:creationId xmlns:a16="http://schemas.microsoft.com/office/drawing/2014/main" id="{4279AB11-30E8-6A5C-7A9B-33C2BCC9BFF3}"/>
              </a:ext>
            </a:extLst>
          </p:cNvPr>
          <p:cNvSpPr txBox="1"/>
          <p:nvPr/>
        </p:nvSpPr>
        <p:spPr>
          <a:xfrm>
            <a:off x="4786409" y="3423928"/>
            <a:ext cx="2781414"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Tree>
    <p:extLst>
      <p:ext uri="{BB962C8B-B14F-4D97-AF65-F5344CB8AC3E}">
        <p14:creationId xmlns:p14="http://schemas.microsoft.com/office/powerpoint/2010/main" val="1518812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965958D5-1435-91F3-AB01-E2FF0F8D514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93E7293-4708-23C6-EFF2-5F651DE5ADC1}"/>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TextBox 2">
            <a:extLst>
              <a:ext uri="{FF2B5EF4-FFF2-40B4-BE49-F238E27FC236}">
                <a16:creationId xmlns:a16="http://schemas.microsoft.com/office/drawing/2014/main" id="{B6C9447A-648C-8249-F0F9-F9D0FF4178E5}"/>
              </a:ext>
            </a:extLst>
          </p:cNvPr>
          <p:cNvSpPr txBox="1"/>
          <p:nvPr/>
        </p:nvSpPr>
        <p:spPr>
          <a:xfrm>
            <a:off x="694862" y="1629382"/>
            <a:ext cx="10802276" cy="646331"/>
          </a:xfrm>
          <a:prstGeom prst="rect">
            <a:avLst/>
          </a:prstGeom>
          <a:noFill/>
        </p:spPr>
        <p:txBody>
          <a:bodyPr wrap="square" rtlCol="0">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Kalian mungkin bertanya, </a:t>
            </a:r>
            <a:r>
              <a:rPr lang="id-ID" b="1" i="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“Rumus tingkat 1 sudah sangat susah, mengapa membutuhkan Rumus Tingkat 2?”</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
        <p:nvSpPr>
          <p:cNvPr id="6" name="TextBox 5">
            <a:extLst>
              <a:ext uri="{FF2B5EF4-FFF2-40B4-BE49-F238E27FC236}">
                <a16:creationId xmlns:a16="http://schemas.microsoft.com/office/drawing/2014/main" id="{51002AAA-DF17-3CE7-8193-F42EFF8A8051}"/>
              </a:ext>
            </a:extLst>
          </p:cNvPr>
          <p:cNvSpPr txBox="1"/>
          <p:nvPr/>
        </p:nvSpPr>
        <p:spPr>
          <a:xfrm>
            <a:off x="285135" y="2335472"/>
            <a:ext cx="11621730" cy="646331"/>
          </a:xfrm>
          <a:prstGeom prst="rect">
            <a:avLst/>
          </a:prstGeom>
          <a:noFill/>
        </p:spPr>
        <p:txBody>
          <a:bodyPr wrap="square" rtlCol="0">
            <a:spAutoFit/>
          </a:bodyPr>
          <a:lstStyle/>
          <a:p>
            <a:pPr algn="ct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Walaupun iya, rumus tingkat 1 sudah amat kompleks; tetapi tetap mempunyai beberapa kekurangan dalam formulanya.</a:t>
            </a:r>
          </a:p>
        </p:txBody>
      </p:sp>
      <p:sp>
        <p:nvSpPr>
          <p:cNvPr id="7" name="TextBox 6">
            <a:extLst>
              <a:ext uri="{FF2B5EF4-FFF2-40B4-BE49-F238E27FC236}">
                <a16:creationId xmlns:a16="http://schemas.microsoft.com/office/drawing/2014/main" id="{C0123090-7AAF-DA9B-1D61-7706C055F61E}"/>
              </a:ext>
            </a:extLst>
          </p:cNvPr>
          <p:cNvSpPr txBox="1"/>
          <p:nvPr/>
        </p:nvSpPr>
        <p:spPr>
          <a:xfrm>
            <a:off x="285135" y="3105832"/>
            <a:ext cx="11621730" cy="646331"/>
          </a:xfrm>
          <a:prstGeom prst="rect">
            <a:avLst/>
          </a:prstGeom>
          <a:noFill/>
        </p:spPr>
        <p:txBody>
          <a:bodyPr wrap="square" rtlCol="0">
            <a:spAutoFit/>
          </a:bodyPr>
          <a:lstStyle/>
          <a:p>
            <a:pPr algn="ct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Perbedaan rumus tingkat 1 dan 2 akan kelihatannya beda banget, tetapi pada dasarnya mempunyai fungsi yang sama.</a:t>
            </a:r>
          </a:p>
        </p:txBody>
      </p:sp>
      <p:sp>
        <p:nvSpPr>
          <p:cNvPr id="8" name="TextBox 7">
            <a:extLst>
              <a:ext uri="{FF2B5EF4-FFF2-40B4-BE49-F238E27FC236}">
                <a16:creationId xmlns:a16="http://schemas.microsoft.com/office/drawing/2014/main" id="{0F0BD860-C403-DDDA-387E-6764AAE7829C}"/>
              </a:ext>
            </a:extLst>
          </p:cNvPr>
          <p:cNvSpPr txBox="1"/>
          <p:nvPr/>
        </p:nvSpPr>
        <p:spPr>
          <a:xfrm>
            <a:off x="216309" y="2519516"/>
            <a:ext cx="11621730" cy="3416320"/>
          </a:xfrm>
          <a:prstGeom prst="rect">
            <a:avLst/>
          </a:prstGeom>
          <a:noFill/>
        </p:spPr>
        <p:txBody>
          <a:bodyPr wrap="square" rtlCol="0">
            <a:spAutoFit/>
          </a:bodyPr>
          <a:lstStyle/>
          <a:p>
            <a:pPr algn="ct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Rumus tingkat 1 dan 2 mempunyai kelebihan dan kekurangannya sendiri:</a:t>
            </a:r>
          </a:p>
          <a:p>
            <a:pPr algn="ctr"/>
            <a:endPar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Tingkat 1 sangat sederhana </a:t>
            </a:r>
            <a:r>
              <a:rPr lang="id-ID" b="1" i="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dibandingkan</a:t>
            </a: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tingkat 2, tingkat 1 mempunyai rumus yang sangat jelas dan langsung menyatakan mekanisme pertahanan terhadap </a:t>
            </a:r>
            <a:r>
              <a:rPr lang="id-ID" b="1" i="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chaos</a:t>
            </a: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jadi kalau mau melakukan perhitungan, akan sangat gampang dibanding tingkat 2</a:t>
            </a:r>
          </a:p>
          <a:p>
            <a:pPr algn="ct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p>
          <a:p>
            <a:pPr algn="ct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Tingkat 2 lebih realistis dibanding tingkat 1, karena di dunia asli atom tidak benar-benar sembarangan pergerakannya.</a:t>
            </a:r>
          </a:p>
          <a:p>
            <a:pPr algn="ctr"/>
            <a:endPar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Di tingkat 1, variabel </a:t>
            </a:r>
            <a:r>
              <a:rPr lang="id-ID" b="1" i="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a:t>
            </a: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hanyalah variabel statis, artinya nilai </a:t>
            </a:r>
            <a:r>
              <a:rPr lang="id-ID" b="1" i="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a:t>
            </a: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tidak akan berubah di situasi apapun. Di sisi lain, tingkat 2 memperkenalkan variabel </a:t>
            </a:r>
            <a:r>
              <a:rPr lang="id-ID" b="1" i="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a:t>
            </a:r>
            <a:r>
              <a:rPr lang="id-ID" b="1" dirty="0">
                <a:gradFill>
                  <a:gsLst>
                    <a:gs pos="40000">
                      <a:schemeClr val="accent1">
                        <a:lumMod val="5000"/>
                        <a:lumOff val="95000"/>
                      </a:schemeClr>
                    </a:gs>
                    <a:gs pos="100000">
                      <a:srgbClr val="92D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yang berubah nilai tergantung situasi, Ini membuat formula tingkat 1 boros karena pengeluaran energi yang tetap.</a:t>
            </a:r>
          </a:p>
        </p:txBody>
      </p:sp>
      <p:sp>
        <p:nvSpPr>
          <p:cNvPr id="10" name="TextBox 9">
            <a:extLst>
              <a:ext uri="{FF2B5EF4-FFF2-40B4-BE49-F238E27FC236}">
                <a16:creationId xmlns:a16="http://schemas.microsoft.com/office/drawing/2014/main" id="{E6E2BB50-EFFA-DF3F-83DC-F1BD88B03EC7}"/>
              </a:ext>
            </a:extLst>
          </p:cNvPr>
          <p:cNvSpPr txBox="1"/>
          <p:nvPr/>
        </p:nvSpPr>
        <p:spPr>
          <a:xfrm>
            <a:off x="4739148" y="520800"/>
            <a:ext cx="2713704"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Tree>
    <p:extLst>
      <p:ext uri="{BB962C8B-B14F-4D97-AF65-F5344CB8AC3E}">
        <p14:creationId xmlns:p14="http://schemas.microsoft.com/office/powerpoint/2010/main" val="2623829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2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2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2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iterate type="wd">
                                    <p:tmPct val="0"/>
                                  </p:iterate>
                                  <p:childTnLst>
                                    <p:animEffect transition="out" filter="fad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par>
                                <p:cTn id="23" presetID="10" presetClass="exit" presetSubtype="0" fill="hold" grpId="1" nodeType="withEffect">
                                  <p:stCondLst>
                                    <p:cond delay="0"/>
                                  </p:stCondLst>
                                  <p:iterate type="wd">
                                    <p:tmPct val="0"/>
                                  </p:iterate>
                                  <p:childTnLst>
                                    <p:animEffect transition="out" filter="fade">
                                      <p:cBhvr>
                                        <p:cTn id="24" dur="500"/>
                                        <p:tgtEl>
                                          <p:spTgt spid="7"/>
                                        </p:tgtEl>
                                      </p:cBhvr>
                                    </p:animEffect>
                                    <p:set>
                                      <p:cBhvr>
                                        <p:cTn id="25" dur="1" fill="hold">
                                          <p:stCondLst>
                                            <p:cond delay="499"/>
                                          </p:stCondLst>
                                        </p:cTn>
                                        <p:tgtEl>
                                          <p:spTgt spid="7"/>
                                        </p:tgtEl>
                                        <p:attrNameLst>
                                          <p:attrName>style.visibility</p:attrName>
                                        </p:attrNameLst>
                                      </p:cBhvr>
                                      <p:to>
                                        <p:strVal val="hidden"/>
                                      </p:to>
                                    </p:set>
                                  </p:childTnLst>
                                </p:cTn>
                              </p:par>
                            </p:childTnLst>
                          </p:cTn>
                        </p:par>
                        <p:par>
                          <p:cTn id="26" fill="hold">
                            <p:stCondLst>
                              <p:cond delay="500"/>
                            </p:stCondLst>
                            <p:childTnLst>
                              <p:par>
                                <p:cTn id="27" presetID="10" presetClass="entr" presetSubtype="0" fill="hold" grpId="0" nodeType="afterEffect">
                                  <p:stCondLst>
                                    <p:cond delay="0"/>
                                  </p:stCondLst>
                                  <p:iterate type="wd">
                                    <p:tmPct val="2000"/>
                                  </p:iterate>
                                  <p:childTnLst>
                                    <p:set>
                                      <p:cBhvr>
                                        <p:cTn id="28" dur="1" fill="hold">
                                          <p:stCondLst>
                                            <p:cond delay="0"/>
                                          </p:stCondLst>
                                        </p:cTn>
                                        <p:tgtEl>
                                          <p:spTgt spid="8">
                                            <p:txEl>
                                              <p:pRg st="0" end="0"/>
                                            </p:txEl>
                                          </p:spTgt>
                                        </p:tgtEl>
                                        <p:attrNameLst>
                                          <p:attrName>style.visibility</p:attrName>
                                        </p:attrNameLst>
                                      </p:cBhvr>
                                      <p:to>
                                        <p:strVal val="visible"/>
                                      </p:to>
                                    </p:set>
                                    <p:animEffect transition="in" filter="fade">
                                      <p:cBhvr>
                                        <p:cTn id="29" dur="500"/>
                                        <p:tgtEl>
                                          <p:spTgt spid="8">
                                            <p:txEl>
                                              <p:pRg st="0" end="0"/>
                                            </p:txEl>
                                          </p:spTgt>
                                        </p:tgtEl>
                                      </p:cBhvr>
                                    </p:animEffect>
                                  </p:childTnLst>
                                </p:cTn>
                              </p:par>
                            </p:childTnLst>
                          </p:cTn>
                        </p:par>
                        <p:par>
                          <p:cTn id="30" fill="hold">
                            <p:stCondLst>
                              <p:cond delay="1100"/>
                            </p:stCondLst>
                            <p:childTnLst>
                              <p:par>
                                <p:cTn id="31" presetID="10" presetClass="entr" presetSubtype="0" fill="hold" grpId="0" nodeType="afterEffect">
                                  <p:stCondLst>
                                    <p:cond delay="0"/>
                                  </p:stCondLst>
                                  <p:iterate type="wd">
                                    <p:tmPct val="2000"/>
                                  </p:iterate>
                                  <p:childTnLst>
                                    <p:set>
                                      <p:cBhvr>
                                        <p:cTn id="32" dur="1" fill="hold">
                                          <p:stCondLst>
                                            <p:cond delay="0"/>
                                          </p:stCondLst>
                                        </p:cTn>
                                        <p:tgtEl>
                                          <p:spTgt spid="8">
                                            <p:txEl>
                                              <p:pRg st="2" end="2"/>
                                            </p:txEl>
                                          </p:spTgt>
                                        </p:tgtEl>
                                        <p:attrNameLst>
                                          <p:attrName>style.visibility</p:attrName>
                                        </p:attrNameLst>
                                      </p:cBhvr>
                                      <p:to>
                                        <p:strVal val="visible"/>
                                      </p:to>
                                    </p:set>
                                    <p:animEffect transition="in" filter="fade">
                                      <p:cBhvr>
                                        <p:cTn id="33" dur="500"/>
                                        <p:tgtEl>
                                          <p:spTgt spid="8">
                                            <p:txEl>
                                              <p:pRg st="2" end="2"/>
                                            </p:txEl>
                                          </p:spTgt>
                                        </p:tgtEl>
                                      </p:cBhvr>
                                    </p:animEffect>
                                  </p:childTnLst>
                                </p:cTn>
                              </p:par>
                            </p:childTnLst>
                          </p:cTn>
                        </p:par>
                        <p:par>
                          <p:cTn id="34" fill="hold">
                            <p:stCondLst>
                              <p:cond delay="1940"/>
                            </p:stCondLst>
                            <p:childTnLst>
                              <p:par>
                                <p:cTn id="35" presetID="10" presetClass="entr" presetSubtype="0" fill="hold" grpId="0" nodeType="afterEffect">
                                  <p:stCondLst>
                                    <p:cond delay="0"/>
                                  </p:stCondLst>
                                  <p:iterate type="wd">
                                    <p:tmPct val="2000"/>
                                  </p:iterate>
                                  <p:childTnLst>
                                    <p:set>
                                      <p:cBhvr>
                                        <p:cTn id="36" dur="1" fill="hold">
                                          <p:stCondLst>
                                            <p:cond delay="0"/>
                                          </p:stCondLst>
                                        </p:cTn>
                                        <p:tgtEl>
                                          <p:spTgt spid="8">
                                            <p:txEl>
                                              <p:pRg st="3" end="3"/>
                                            </p:txEl>
                                          </p:spTgt>
                                        </p:tgtEl>
                                        <p:attrNameLst>
                                          <p:attrName>style.visibility</p:attrName>
                                        </p:attrNameLst>
                                      </p:cBhvr>
                                      <p:to>
                                        <p:strVal val="visible"/>
                                      </p:to>
                                    </p:set>
                                    <p:animEffect transition="in" filter="fade">
                                      <p:cBhvr>
                                        <p:cTn id="37" dur="500"/>
                                        <p:tgtEl>
                                          <p:spTgt spid="8">
                                            <p:txEl>
                                              <p:pRg st="3" end="3"/>
                                            </p:txEl>
                                          </p:spTgt>
                                        </p:tgtEl>
                                      </p:cBhvr>
                                    </p:animEffect>
                                  </p:childTnLst>
                                </p:cTn>
                              </p:par>
                            </p:childTnLst>
                          </p:cTn>
                        </p:par>
                        <p:par>
                          <p:cTn id="38" fill="hold">
                            <p:stCondLst>
                              <p:cond delay="2440"/>
                            </p:stCondLst>
                            <p:childTnLst>
                              <p:par>
                                <p:cTn id="39" presetID="10" presetClass="entr" presetSubtype="0" fill="hold" grpId="0" nodeType="afterEffect">
                                  <p:stCondLst>
                                    <p:cond delay="0"/>
                                  </p:stCondLst>
                                  <p:iterate type="wd">
                                    <p:tmPct val="2000"/>
                                  </p:iterate>
                                  <p:childTnLst>
                                    <p:set>
                                      <p:cBhvr>
                                        <p:cTn id="40" dur="1" fill="hold">
                                          <p:stCondLst>
                                            <p:cond delay="0"/>
                                          </p:stCondLst>
                                        </p:cTn>
                                        <p:tgtEl>
                                          <p:spTgt spid="8">
                                            <p:txEl>
                                              <p:pRg st="4" end="4"/>
                                            </p:txEl>
                                          </p:spTgt>
                                        </p:tgtEl>
                                        <p:attrNameLst>
                                          <p:attrName>style.visibility</p:attrName>
                                        </p:attrNameLst>
                                      </p:cBhvr>
                                      <p:to>
                                        <p:strVal val="visible"/>
                                      </p:to>
                                    </p:set>
                                    <p:animEffect transition="in" filter="fade">
                                      <p:cBhvr>
                                        <p:cTn id="41" dur="500"/>
                                        <p:tgtEl>
                                          <p:spTgt spid="8">
                                            <p:txEl>
                                              <p:pRg st="4" end="4"/>
                                            </p:txEl>
                                          </p:spTgt>
                                        </p:tgtEl>
                                      </p:cBhvr>
                                    </p:animEffect>
                                  </p:childTnLst>
                                </p:cTn>
                              </p:par>
                            </p:childTnLst>
                          </p:cTn>
                        </p:par>
                        <p:par>
                          <p:cTn id="42" fill="hold">
                            <p:stCondLst>
                              <p:cond delay="3110"/>
                            </p:stCondLst>
                            <p:childTnLst>
                              <p:par>
                                <p:cTn id="43" presetID="10" presetClass="entr" presetSubtype="0" fill="hold" grpId="0" nodeType="afterEffect">
                                  <p:stCondLst>
                                    <p:cond delay="0"/>
                                  </p:stCondLst>
                                  <p:iterate type="wd">
                                    <p:tmPct val="2000"/>
                                  </p:iterate>
                                  <p:childTnLst>
                                    <p:set>
                                      <p:cBhvr>
                                        <p:cTn id="44" dur="1" fill="hold">
                                          <p:stCondLst>
                                            <p:cond delay="0"/>
                                          </p:stCondLst>
                                        </p:cTn>
                                        <p:tgtEl>
                                          <p:spTgt spid="8">
                                            <p:txEl>
                                              <p:pRg st="6" end="6"/>
                                            </p:txEl>
                                          </p:spTgt>
                                        </p:tgtEl>
                                        <p:attrNameLst>
                                          <p:attrName>style.visibility</p:attrName>
                                        </p:attrNameLst>
                                      </p:cBhvr>
                                      <p:to>
                                        <p:strVal val="visible"/>
                                      </p:to>
                                    </p:set>
                                    <p:animEffect transition="in" filter="fade">
                                      <p:cBhvr>
                                        <p:cTn id="45"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6" grpId="1"/>
      <p:bldP spid="7" grpId="0"/>
      <p:bldP spid="7" grpId="1"/>
      <p:bldP spid="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960BDBF0-163D-69A3-A1BC-D4D37012A55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43B4651-2A01-1659-999F-8BE03CE8180E}"/>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TextBox 3">
            <a:extLst>
              <a:ext uri="{FF2B5EF4-FFF2-40B4-BE49-F238E27FC236}">
                <a16:creationId xmlns:a16="http://schemas.microsoft.com/office/drawing/2014/main" id="{0F344850-DA95-A80F-C8C1-3DFCB6CB0906}"/>
              </a:ext>
            </a:extLst>
          </p:cNvPr>
          <p:cNvSpPr txBox="1"/>
          <p:nvPr/>
        </p:nvSpPr>
        <p:spPr>
          <a:xfrm>
            <a:off x="4788310" y="520800"/>
            <a:ext cx="2615380"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
        <p:nvSpPr>
          <p:cNvPr id="3" name="TextBox 2">
            <a:extLst>
              <a:ext uri="{FF2B5EF4-FFF2-40B4-BE49-F238E27FC236}">
                <a16:creationId xmlns:a16="http://schemas.microsoft.com/office/drawing/2014/main" id="{7543953A-FA29-2876-9B9D-B66D3BB368C4}"/>
              </a:ext>
            </a:extLst>
          </p:cNvPr>
          <p:cNvSpPr txBox="1"/>
          <p:nvPr/>
        </p:nvSpPr>
        <p:spPr>
          <a:xfrm>
            <a:off x="3175818" y="890132"/>
            <a:ext cx="5840364" cy="369332"/>
          </a:xfrm>
          <a:prstGeom prst="rect">
            <a:avLst/>
          </a:prstGeom>
          <a:noFill/>
        </p:spPr>
        <p:txBody>
          <a:bodyPr wrap="square" rtlCol="0">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Kita akan mulai seperti tadi kayak di tingkat 1.</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A75D7F8-83AA-15C7-697F-619B6B169AD5}"/>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6" name="TextBox 5">
                <a:extLst>
                  <a:ext uri="{FF2B5EF4-FFF2-40B4-BE49-F238E27FC236}">
                    <a16:creationId xmlns:a16="http://schemas.microsoft.com/office/drawing/2014/main" id="{EA75D7F8-83AA-15C7-697F-619B6B169AD5}"/>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2"/>
                <a:stretch>
                  <a:fillRect/>
                </a:stretch>
              </a:blipFill>
            </p:spPr>
            <p:txBody>
              <a:bodyPr/>
              <a:lstStyle/>
              <a:p>
                <a:r>
                  <a:rPr lang="id-ID">
                    <a:noFill/>
                  </a:rPr>
                  <a:t> </a:t>
                </a:r>
              </a:p>
            </p:txBody>
          </p:sp>
        </mc:Fallback>
      </mc:AlternateContent>
    </p:spTree>
    <p:extLst>
      <p:ext uri="{BB962C8B-B14F-4D97-AF65-F5344CB8AC3E}">
        <p14:creationId xmlns:p14="http://schemas.microsoft.com/office/powerpoint/2010/main" val="3392956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4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iterate type="lt">
                                    <p:tmPct val="4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5093F135-C2F1-2372-92E8-AF58FC810A9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BC335A0-4A72-275F-D616-DEAEE1342703}"/>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TextBox 3">
            <a:extLst>
              <a:ext uri="{FF2B5EF4-FFF2-40B4-BE49-F238E27FC236}">
                <a16:creationId xmlns:a16="http://schemas.microsoft.com/office/drawing/2014/main" id="{C65573B9-0186-9230-39F7-D22A283763B0}"/>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
        <p:nvSpPr>
          <p:cNvPr id="3" name="TextBox 2">
            <a:extLst>
              <a:ext uri="{FF2B5EF4-FFF2-40B4-BE49-F238E27FC236}">
                <a16:creationId xmlns:a16="http://schemas.microsoft.com/office/drawing/2014/main" id="{217F9351-6BA6-9113-B4E0-22AFF850448B}"/>
              </a:ext>
            </a:extLst>
          </p:cNvPr>
          <p:cNvSpPr txBox="1"/>
          <p:nvPr/>
        </p:nvSpPr>
        <p:spPr>
          <a:xfrm>
            <a:off x="3175818" y="890132"/>
            <a:ext cx="5840364" cy="369332"/>
          </a:xfrm>
          <a:prstGeom prst="rect">
            <a:avLst/>
          </a:prstGeom>
          <a:noFill/>
        </p:spPr>
        <p:txBody>
          <a:bodyPr wrap="square" rtlCol="0">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Kita akan mulai seperti tadi dengan tingkat 1.</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D29F2A9-054A-F16C-059D-778EE4E1CB11}"/>
                  </a:ext>
                </a:extLst>
              </p:cNvPr>
              <p:cNvSpPr txBox="1"/>
              <p:nvPr/>
            </p:nvSpPr>
            <p:spPr>
              <a:xfrm>
                <a:off x="2619526" y="2878833"/>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7" name="TextBox 6">
                <a:extLst>
                  <a:ext uri="{FF2B5EF4-FFF2-40B4-BE49-F238E27FC236}">
                    <a16:creationId xmlns:a16="http://schemas.microsoft.com/office/drawing/2014/main" id="{CD29F2A9-054A-F16C-059D-778EE4E1CB11}"/>
                  </a:ext>
                </a:extLst>
              </p:cNvPr>
              <p:cNvSpPr txBox="1">
                <a:spLocks noRot="1" noChangeAspect="1" noMove="1" noResize="1" noEditPoints="1" noAdjustHandles="1" noChangeArrowheads="1" noChangeShapeType="1" noTextEdit="1"/>
              </p:cNvSpPr>
              <p:nvPr/>
            </p:nvSpPr>
            <p:spPr>
              <a:xfrm>
                <a:off x="2619526" y="2878833"/>
                <a:ext cx="6952948" cy="369332"/>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2D63C1-5718-56D4-4948-E494F0D956C2}"/>
                  </a:ext>
                </a:extLst>
              </p:cNvPr>
              <p:cNvSpPr txBox="1"/>
              <p:nvPr/>
            </p:nvSpPr>
            <p:spPr>
              <a:xfrm>
                <a:off x="2619526" y="3248165"/>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262D63C1-5718-56D4-4948-E494F0D956C2}"/>
                  </a:ext>
                </a:extLst>
              </p:cNvPr>
              <p:cNvSpPr txBox="1">
                <a:spLocks noRot="1" noChangeAspect="1" noMove="1" noResize="1" noEditPoints="1" noAdjustHandles="1" noChangeArrowheads="1" noChangeShapeType="1" noTextEdit="1"/>
              </p:cNvSpPr>
              <p:nvPr/>
            </p:nvSpPr>
            <p:spPr>
              <a:xfrm>
                <a:off x="2619526" y="3248165"/>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A25DE03-D4F8-2515-C553-F8FC71AF76EA}"/>
                  </a:ext>
                </a:extLst>
              </p:cNvPr>
              <p:cNvSpPr txBox="1"/>
              <p:nvPr/>
            </p:nvSpPr>
            <p:spPr>
              <a:xfrm>
                <a:off x="2619526" y="3617497"/>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9" name="TextBox 8">
                <a:extLst>
                  <a:ext uri="{FF2B5EF4-FFF2-40B4-BE49-F238E27FC236}">
                    <a16:creationId xmlns:a16="http://schemas.microsoft.com/office/drawing/2014/main" id="{9A25DE03-D4F8-2515-C553-F8FC71AF76EA}"/>
                  </a:ext>
                </a:extLst>
              </p:cNvPr>
              <p:cNvSpPr txBox="1">
                <a:spLocks noRot="1" noChangeAspect="1" noMove="1" noResize="1" noEditPoints="1" noAdjustHandles="1" noChangeArrowheads="1" noChangeShapeType="1" noTextEdit="1"/>
              </p:cNvSpPr>
              <p:nvPr/>
            </p:nvSpPr>
            <p:spPr>
              <a:xfrm>
                <a:off x="2619526" y="3617497"/>
                <a:ext cx="6952948" cy="369332"/>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AC4DF76-C087-AACA-B176-4C64CF67CEC6}"/>
                  </a:ext>
                </a:extLst>
              </p:cNvPr>
              <p:cNvSpPr txBox="1"/>
              <p:nvPr/>
            </p:nvSpPr>
            <p:spPr>
              <a:xfrm>
                <a:off x="2619526" y="3986829"/>
                <a:ext cx="6952948" cy="395621"/>
              </a:xfrm>
              <a:prstGeom prst="rect">
                <a:avLst/>
              </a:prstGeom>
              <a:noFill/>
            </p:spPr>
            <p:txBody>
              <a:bodyPr wrap="square" rtlCol="0">
                <a:spAutoFit/>
              </a:bodyPr>
              <a:lstStyle/>
              <a:p>
                <a:pPr algn="ctr"/>
                <a14:m>
                  <m:oMathPara xmlns:m="http://schemas.openxmlformats.org/officeDocument/2006/math">
                    <m:oMath>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0" name="TextBox 9">
                <a:extLst>
                  <a:ext uri="{FF2B5EF4-FFF2-40B4-BE49-F238E27FC236}">
                    <a16:creationId xmlns:a16="http://schemas.microsoft.com/office/drawing/2014/main" id="{9AC4DF76-C087-AACA-B176-4C64CF67CEC6}"/>
                  </a:ext>
                </a:extLst>
              </p:cNvPr>
              <p:cNvSpPr txBox="1">
                <a:spLocks noRot="1" noChangeAspect="1" noMove="1" noResize="1" noEditPoints="1" noAdjustHandles="1" noChangeArrowheads="1" noChangeShapeType="1" noTextEdit="1"/>
              </p:cNvSpPr>
              <p:nvPr/>
            </p:nvSpPr>
            <p:spPr>
              <a:xfrm>
                <a:off x="2619526" y="3986829"/>
                <a:ext cx="6952948" cy="395621"/>
              </a:xfrm>
              <a:prstGeom prst="rect">
                <a:avLst/>
              </a:prstGeom>
              <a:blipFill>
                <a:blip r:embed="rId5"/>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F23C36-1399-4456-3021-9F1A7BC1A00F}"/>
                  </a:ext>
                </a:extLst>
              </p:cNvPr>
              <p:cNvSpPr txBox="1"/>
              <p:nvPr/>
            </p:nvSpPr>
            <p:spPr>
              <a:xfrm>
                <a:off x="3072341" y="3158291"/>
                <a:ext cx="6952948" cy="1200329"/>
              </a:xfrm>
              <a:prstGeom prst="rect">
                <a:avLst/>
              </a:prstGeom>
              <a:noFill/>
            </p:spPr>
            <p:txBody>
              <a:bodyPr wrap="square" rtlCol="0">
                <a:spAutoFit/>
              </a:bodyPr>
              <a:lstStyle/>
              <a:p>
                <a:pPr algn="ctr"/>
                <a:r>
                  <a:rPr lang="id-ID" sz="7200" b="1" dirty="0">
                    <a:gradFill>
                      <a:gsLst>
                        <a:gs pos="84000">
                          <a:srgbClr val="5ECC94"/>
                        </a:gs>
                        <a:gs pos="0">
                          <a:schemeClr val="accent1">
                            <a:lumMod val="5000"/>
                            <a:lumOff val="95000"/>
                          </a:schemeClr>
                        </a:gs>
                        <a:gs pos="100000">
                          <a:srgbClr val="00B050"/>
                        </a:gs>
                      </a:gsLst>
                      <a:lin ang="5400000" scaled="1"/>
                    </a:gradFill>
                    <a:ea typeface="HYWenHei-85W" panose="00020600040101010101" pitchFamily="18" charset="-128"/>
                    <a:cs typeface="HYWenHei-85W" panose="00020600040101010101" pitchFamily="18" charset="-128"/>
                  </a:rPr>
                  <a:t>[         ]</a:t>
                </a:r>
                <a14:m>
                  <m:oMath xmlns:m="http://schemas.openxmlformats.org/officeDocument/2006/math">
                    <m:r>
                      <a:rPr lang="id-ID" sz="7200"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oMath>
                </a14:m>
                <a:endParaRPr lang="id-ID" sz="7200"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1" name="TextBox 10">
                <a:extLst>
                  <a:ext uri="{FF2B5EF4-FFF2-40B4-BE49-F238E27FC236}">
                    <a16:creationId xmlns:a16="http://schemas.microsoft.com/office/drawing/2014/main" id="{31F23C36-1399-4456-3021-9F1A7BC1A00F}"/>
                  </a:ext>
                </a:extLst>
              </p:cNvPr>
              <p:cNvSpPr txBox="1">
                <a:spLocks noRot="1" noChangeAspect="1" noMove="1" noResize="1" noEditPoints="1" noAdjustHandles="1" noChangeArrowheads="1" noChangeShapeType="1" noTextEdit="1"/>
              </p:cNvSpPr>
              <p:nvPr/>
            </p:nvSpPr>
            <p:spPr>
              <a:xfrm>
                <a:off x="3072341" y="3158291"/>
                <a:ext cx="6952948" cy="1200329"/>
              </a:xfrm>
              <a:prstGeom prst="rect">
                <a:avLst/>
              </a:prstGeom>
              <a:blipFill>
                <a:blip r:embed="rId6"/>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D81C0ED-4AA6-135C-4AAC-C05F56C039AB}"/>
                  </a:ext>
                </a:extLst>
              </p:cNvPr>
              <p:cNvSpPr txBox="1"/>
              <p:nvPr/>
            </p:nvSpPr>
            <p:spPr>
              <a:xfrm>
                <a:off x="2619526" y="4371764"/>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FD81C0ED-4AA6-135C-4AAC-C05F56C039AB}"/>
                  </a:ext>
                </a:extLst>
              </p:cNvPr>
              <p:cNvSpPr txBox="1">
                <a:spLocks noRot="1" noChangeAspect="1" noMove="1" noResize="1" noEditPoints="1" noAdjustHandles="1" noChangeArrowheads="1" noChangeShapeType="1" noTextEdit="1"/>
              </p:cNvSpPr>
              <p:nvPr/>
            </p:nvSpPr>
            <p:spPr>
              <a:xfrm>
                <a:off x="2619526" y="4371764"/>
                <a:ext cx="6952948" cy="369332"/>
              </a:xfrm>
              <a:prstGeom prst="rect">
                <a:avLst/>
              </a:prstGeom>
              <a:blipFill>
                <a:blip r:embed="rId7"/>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816E521-B19F-D7F1-3F98-4D453DDC3DCE}"/>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0816E521-B19F-D7F1-3F98-4D453DDC3DCE}"/>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8"/>
                <a:stretch>
                  <a:fillRect/>
                </a:stretch>
              </a:blipFill>
            </p:spPr>
            <p:txBody>
              <a:bodyPr/>
              <a:lstStyle/>
              <a:p>
                <a:r>
                  <a:rPr lang="id-ID">
                    <a:noFill/>
                  </a:rPr>
                  <a:t> </a:t>
                </a:r>
              </a:p>
            </p:txBody>
          </p:sp>
        </mc:Fallback>
      </mc:AlternateContent>
    </p:spTree>
    <p:extLst>
      <p:ext uri="{BB962C8B-B14F-4D97-AF65-F5344CB8AC3E}">
        <p14:creationId xmlns:p14="http://schemas.microsoft.com/office/powerpoint/2010/main" val="2617044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xit" presetSubtype="0" fill="hold" grpId="0" nodeType="withEffect">
                                  <p:stCondLst>
                                    <p:cond delay="0"/>
                                  </p:stCondLst>
                                  <p:childTnLst>
                                    <p:animEffect transition="out" filter="fade">
                                      <p:cBhvr>
                                        <p:cTn id="24" dur="500"/>
                                        <p:tgtEl>
                                          <p:spTgt spid="3"/>
                                        </p:tgtEl>
                                      </p:cBhvr>
                                    </p:animEffect>
                                    <p:set>
                                      <p:cBhvr>
                                        <p:cTn id="25"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0" grpId="0"/>
      <p:bldP spid="11"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6C4862AD-79CB-B120-2683-1FAB28E9854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4273F43-6435-707F-9F2A-C376F52D147C}"/>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30AC08-908F-D57E-F183-8F08FC6B77A0}"/>
                  </a:ext>
                </a:extLst>
              </p:cNvPr>
              <p:cNvSpPr txBox="1"/>
              <p:nvPr/>
            </p:nvSpPr>
            <p:spPr>
              <a:xfrm>
                <a:off x="-1156062" y="2837456"/>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7" name="TextBox 6">
                <a:extLst>
                  <a:ext uri="{FF2B5EF4-FFF2-40B4-BE49-F238E27FC236}">
                    <a16:creationId xmlns:a16="http://schemas.microsoft.com/office/drawing/2014/main" id="{9530AC08-908F-D57E-F183-8F08FC6B77A0}"/>
                  </a:ext>
                </a:extLst>
              </p:cNvPr>
              <p:cNvSpPr txBox="1">
                <a:spLocks noRot="1" noChangeAspect="1" noMove="1" noResize="1" noEditPoints="1" noAdjustHandles="1" noChangeArrowheads="1" noChangeShapeType="1" noTextEdit="1"/>
              </p:cNvSpPr>
              <p:nvPr/>
            </p:nvSpPr>
            <p:spPr>
              <a:xfrm>
                <a:off x="-1156062" y="2837456"/>
                <a:ext cx="6952948" cy="369332"/>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1909218-3BC9-4FBC-FC1A-BBAD84CAD9CB}"/>
                  </a:ext>
                </a:extLst>
              </p:cNvPr>
              <p:cNvSpPr txBox="1"/>
              <p:nvPr/>
            </p:nvSpPr>
            <p:spPr>
              <a:xfrm>
                <a:off x="-1156062" y="3206788"/>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d>
                        <m:d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e>
                      </m:d>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31909218-3BC9-4FBC-FC1A-BBAD84CAD9CB}"/>
                  </a:ext>
                </a:extLst>
              </p:cNvPr>
              <p:cNvSpPr txBox="1">
                <a:spLocks noRot="1" noChangeAspect="1" noMove="1" noResize="1" noEditPoints="1" noAdjustHandles="1" noChangeArrowheads="1" noChangeShapeType="1" noTextEdit="1"/>
              </p:cNvSpPr>
              <p:nvPr/>
            </p:nvSpPr>
            <p:spPr>
              <a:xfrm>
                <a:off x="-1156062" y="3206788"/>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F828680-B163-0B93-9F16-06BBCD896C79}"/>
                  </a:ext>
                </a:extLst>
              </p:cNvPr>
              <p:cNvSpPr txBox="1"/>
              <p:nvPr/>
            </p:nvSpPr>
            <p:spPr>
              <a:xfrm>
                <a:off x="-1156062" y="3576120"/>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d>
                        <m:d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e>
                      </m:d>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9" name="TextBox 8">
                <a:extLst>
                  <a:ext uri="{FF2B5EF4-FFF2-40B4-BE49-F238E27FC236}">
                    <a16:creationId xmlns:a16="http://schemas.microsoft.com/office/drawing/2014/main" id="{8F828680-B163-0B93-9F16-06BBCD896C79}"/>
                  </a:ext>
                </a:extLst>
              </p:cNvPr>
              <p:cNvSpPr txBox="1">
                <a:spLocks noRot="1" noChangeAspect="1" noMove="1" noResize="1" noEditPoints="1" noAdjustHandles="1" noChangeArrowheads="1" noChangeShapeType="1" noTextEdit="1"/>
              </p:cNvSpPr>
              <p:nvPr/>
            </p:nvSpPr>
            <p:spPr>
              <a:xfrm>
                <a:off x="-1156062" y="3576120"/>
                <a:ext cx="6952948" cy="369332"/>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6FE50D6-3665-5C9F-FF8C-65B09A488CDA}"/>
                  </a:ext>
                </a:extLst>
              </p:cNvPr>
              <p:cNvSpPr txBox="1"/>
              <p:nvPr/>
            </p:nvSpPr>
            <p:spPr>
              <a:xfrm>
                <a:off x="-1156062" y="3945452"/>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0" name="TextBox 9">
                <a:extLst>
                  <a:ext uri="{FF2B5EF4-FFF2-40B4-BE49-F238E27FC236}">
                    <a16:creationId xmlns:a16="http://schemas.microsoft.com/office/drawing/2014/main" id="{A6FE50D6-3665-5C9F-FF8C-65B09A488CDA}"/>
                  </a:ext>
                </a:extLst>
              </p:cNvPr>
              <p:cNvSpPr txBox="1">
                <a:spLocks noRot="1" noChangeAspect="1" noMove="1" noResize="1" noEditPoints="1" noAdjustHandles="1" noChangeArrowheads="1" noChangeShapeType="1" noTextEdit="1"/>
              </p:cNvSpPr>
              <p:nvPr/>
            </p:nvSpPr>
            <p:spPr>
              <a:xfrm>
                <a:off x="-1156062" y="3945452"/>
                <a:ext cx="6952948" cy="395621"/>
              </a:xfrm>
              <a:prstGeom prst="rect">
                <a:avLst/>
              </a:prstGeom>
              <a:blipFill>
                <a:blip r:embed="rId5"/>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2126AE2-F94A-4488-8831-73AB1FE3A4EF}"/>
                  </a:ext>
                </a:extLst>
              </p:cNvPr>
              <p:cNvSpPr txBox="1"/>
              <p:nvPr/>
            </p:nvSpPr>
            <p:spPr>
              <a:xfrm>
                <a:off x="-1156062" y="4330387"/>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B2126AE2-F94A-4488-8831-73AB1FE3A4EF}"/>
                  </a:ext>
                </a:extLst>
              </p:cNvPr>
              <p:cNvSpPr txBox="1">
                <a:spLocks noRot="1" noChangeAspect="1" noMove="1" noResize="1" noEditPoints="1" noAdjustHandles="1" noChangeArrowheads="1" noChangeShapeType="1" noTextEdit="1"/>
              </p:cNvSpPr>
              <p:nvPr/>
            </p:nvSpPr>
            <p:spPr>
              <a:xfrm>
                <a:off x="-1156062" y="4330387"/>
                <a:ext cx="6952948" cy="369332"/>
              </a:xfrm>
              <a:prstGeom prst="rect">
                <a:avLst/>
              </a:prstGeom>
              <a:blipFill>
                <a:blip r:embed="rId6"/>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9502FA8-BF28-8CA7-F05C-C20A441732BB}"/>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49502FA8-BF28-8CA7-F05C-C20A441732BB}"/>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7"/>
                <a:stretch>
                  <a:fillRect/>
                </a:stretch>
              </a:blipFill>
            </p:spPr>
            <p:txBody>
              <a:bodyPr/>
              <a:lstStyle/>
              <a:p>
                <a:r>
                  <a:rPr lang="id-ID">
                    <a:noFill/>
                  </a:rPr>
                  <a:t> </a:t>
                </a:r>
              </a:p>
            </p:txBody>
          </p:sp>
        </mc:Fallback>
      </mc:AlternateContent>
      <p:sp>
        <p:nvSpPr>
          <p:cNvPr id="6" name="TextBox 5">
            <a:extLst>
              <a:ext uri="{FF2B5EF4-FFF2-40B4-BE49-F238E27FC236}">
                <a16:creationId xmlns:a16="http://schemas.microsoft.com/office/drawing/2014/main" id="{E614570C-040C-1A6E-77DF-FEF3A3660735}"/>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83B8876-3FCC-34B9-419E-7110449C21A8}"/>
                  </a:ext>
                </a:extLst>
              </p:cNvPr>
              <p:cNvSpPr txBox="1"/>
              <p:nvPr/>
            </p:nvSpPr>
            <p:spPr>
              <a:xfrm>
                <a:off x="3375298" y="2995833"/>
                <a:ext cx="6952948" cy="369332"/>
              </a:xfrm>
              <a:prstGeom prst="rect">
                <a:avLst/>
              </a:prstGeom>
              <a:noFill/>
            </p:spPr>
            <p:txBody>
              <a:bodyPr wrap="square" rtlCol="0">
                <a:spAutoFit/>
              </a:bodyPr>
              <a:lstStyle/>
              <a:p>
                <a:pPr algn="ctr"/>
                <a14:m>
                  <m:oMathPara xmlns:m="http://schemas.openxmlformats.org/officeDocument/2006/math">
                    <m:oMath>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𝒇</m:t>
                      </m:r>
                      <m:d>
                        <m:dPr>
                          <m:ctrlP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solidFill>
                                <a:srgbClr val="EE0000"/>
                              </a:solidFill>
                              <a:latin typeface="Cambria Math" panose="02040503050406030204" pitchFamily="18" charset="0"/>
                              <a:ea typeface="HYWenHei-85W" panose="00020600040101010101" pitchFamily="18" charset="-128"/>
                              <a:cs typeface="HYWenHei-85W" panose="00020600040101010101" pitchFamily="18" charset="-128"/>
                            </a:rPr>
                            <m:t>​</m:t>
                          </m:r>
                        </m:e>
                      </m:d>
                    </m:oMath>
                  </m:oMathPara>
                </a14:m>
                <a:endParaRPr lang="id-ID"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p:sp>
            <p:nvSpPr>
              <p:cNvPr id="3" name="TextBox 2">
                <a:extLst>
                  <a:ext uri="{FF2B5EF4-FFF2-40B4-BE49-F238E27FC236}">
                    <a16:creationId xmlns:a16="http://schemas.microsoft.com/office/drawing/2014/main" id="{983B8876-3FCC-34B9-419E-7110449C21A8}"/>
                  </a:ext>
                </a:extLst>
              </p:cNvPr>
              <p:cNvSpPr txBox="1">
                <a:spLocks noRot="1" noChangeAspect="1" noMove="1" noResize="1" noEditPoints="1" noAdjustHandles="1" noChangeArrowheads="1" noChangeShapeType="1" noTextEdit="1"/>
              </p:cNvSpPr>
              <p:nvPr/>
            </p:nvSpPr>
            <p:spPr>
              <a:xfrm>
                <a:off x="3375298" y="2995833"/>
                <a:ext cx="6952948" cy="369332"/>
              </a:xfrm>
              <a:prstGeom prst="rect">
                <a:avLst/>
              </a:prstGeom>
              <a:blipFill>
                <a:blip r:embed="rId8"/>
                <a:stretch>
                  <a:fillRect b="-13115"/>
                </a:stretch>
              </a:blipFill>
            </p:spPr>
            <p:txBody>
              <a:bodyPr/>
              <a:lstStyle/>
              <a:p>
                <a:r>
                  <a:rPr lang="id-ID">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4FAB6C7-09FB-7176-2BD4-A284874895A2}"/>
                  </a:ext>
                </a:extLst>
              </p:cNvPr>
              <p:cNvSpPr txBox="1"/>
              <p:nvPr/>
            </p:nvSpPr>
            <p:spPr>
              <a:xfrm>
                <a:off x="3217394" y="3501097"/>
                <a:ext cx="8527566" cy="2813271"/>
              </a:xfrm>
              <a:prstGeom prst="rect">
                <a:avLst/>
              </a:prstGeom>
              <a:noFill/>
            </p:spPr>
            <p:txBody>
              <a:bodyPr wrap="square">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Aslinya, rumus ini seharusnya menjadi satu kesatuan, tetapi kita tetap bisa membaginya lebih kecil.</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Mulai dengan </a:t>
                </a:r>
                <a14:m>
                  <m:oMath xmlns:m="http://schemas.openxmlformats.org/officeDocument/2006/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a14:m>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rumus ini berfungsi untuk </a:t>
                </a:r>
                <a:r>
                  <a:rPr lang="sv-SE"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menghitung bagaimana menara dan bilah saling tarik-menarik</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14:m>
                  <m:oMath xmlns:m="http://schemas.openxmlformats.org/officeDocument/2006/math">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oMath>
                </a14:m>
                <a:r>
                  <a:rPr lang="id-ID" dirty="0"/>
                  <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disini menunjukkan matriks kolom 4 dimensi </a:t>
                </a:r>
                <a14:m>
                  <m:oMath xmlns:m="http://schemas.openxmlformats.org/officeDocument/2006/math">
                    <m:d>
                      <m:dPr>
                        <m:begChr m:val="["/>
                        <m:endChr m:val="]"/>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m>
                          <m:mPr>
                            <m:mcs>
                              <m:mc>
                                <m:mcPr>
                                  <m:count m:val="1"/>
                                  <m:mcJc m:val="center"/>
                                </m:mcPr>
                              </m:mc>
                            </m:mcs>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mP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m:rPr>
                                      <m:brk m:alnAt="7"/>
                                    </m:r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𝜽</m:t>
                                  </m:r>
                                </m:e>
                                <m:sub>
                                  <m:r>
                                    <m:rPr>
                                      <m:brk m:alnAt="7"/>
                                    </m:r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𝟏</m:t>
                                  </m:r>
                                </m:sub>
                              </m:sSub>
                            </m:e>
                          </m:m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𝜽</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𝟐</m:t>
                                  </m:r>
                                </m:sub>
                              </m:sSub>
                            </m:e>
                          </m:m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𝝎</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𝟏</m:t>
                                  </m:r>
                                </m:sub>
                              </m:sSub>
                            </m:e>
                          </m:m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𝝎</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𝟐</m:t>
                                  </m:r>
                                </m:sub>
                              </m:sSub>
                            </m:e>
                          </m:mr>
                        </m:m>
                      </m:e>
                    </m:d>
                  </m:oMath>
                </a14:m>
                <a:r>
                  <a:rPr lang="id-ID" dirty="0"/>
                  <a:t>.</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Tampakannya agak seram, tetapi ini mempunyai penjelasan yang sangat sederhana.</a:t>
                </a:r>
                <a:endPar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p:sp>
            <p:nvSpPr>
              <p:cNvPr id="11" name="TextBox 10">
                <a:extLst>
                  <a:ext uri="{FF2B5EF4-FFF2-40B4-BE49-F238E27FC236}">
                    <a16:creationId xmlns:a16="http://schemas.microsoft.com/office/drawing/2014/main" id="{C4FAB6C7-09FB-7176-2BD4-A284874895A2}"/>
                  </a:ext>
                </a:extLst>
              </p:cNvPr>
              <p:cNvSpPr txBox="1">
                <a:spLocks noRot="1" noChangeAspect="1" noMove="1" noResize="1" noEditPoints="1" noAdjustHandles="1" noChangeArrowheads="1" noChangeShapeType="1" noTextEdit="1"/>
              </p:cNvSpPr>
              <p:nvPr/>
            </p:nvSpPr>
            <p:spPr>
              <a:xfrm>
                <a:off x="3217394" y="3501097"/>
                <a:ext cx="8527566" cy="2813271"/>
              </a:xfrm>
              <a:prstGeom prst="rect">
                <a:avLst/>
              </a:prstGeom>
              <a:blipFill>
                <a:blip r:embed="rId9"/>
                <a:stretch>
                  <a:fillRect/>
                </a:stretch>
              </a:blipFill>
            </p:spPr>
            <p:txBody>
              <a:bodyPr/>
              <a:lstStyle/>
              <a:p>
                <a:r>
                  <a:rPr lang="id-ID">
                    <a:noFill/>
                  </a:rPr>
                  <a:t> </a:t>
                </a:r>
              </a:p>
            </p:txBody>
          </p:sp>
        </mc:Fallback>
      </mc:AlternateContent>
      <p:sp>
        <p:nvSpPr>
          <p:cNvPr id="15" name="TextBox 14">
            <a:extLst>
              <a:ext uri="{FF2B5EF4-FFF2-40B4-BE49-F238E27FC236}">
                <a16:creationId xmlns:a16="http://schemas.microsoft.com/office/drawing/2014/main" id="{064E7F36-70ED-8833-CADC-77A3BAB9877D}"/>
              </a:ext>
            </a:extLst>
          </p:cNvPr>
          <p:cNvSpPr txBox="1"/>
          <p:nvPr/>
        </p:nvSpPr>
        <p:spPr>
          <a:xfrm>
            <a:off x="3666097" y="3423062"/>
            <a:ext cx="8527566" cy="2862322"/>
          </a:xfrm>
          <a:prstGeom prst="rect">
            <a:avLst/>
          </a:prstGeom>
          <a:noFill/>
        </p:spPr>
        <p:txBody>
          <a:bodyPr wrap="square">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Jadi apa artinya dari matriks ini?</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Matriks berfungsinya hampir sama seperti tabel, disini kita bisa melihat 2 simbol, yang di atas namanya theta, yang di bawah namanya omega. Theta berfungsi sebagai penanda direksi/derajat, dan omega berfungsi sebagai penanda kecepatan.</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Kalian bisa melihat bahwa ada nomor 1 dan 2 dibawah simbol itu, mereka adalah penanda khas untuk membedakan formula sama, tetapi mempunyai nilai beda.</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Disini, 1 menandakan goyangan menara turbin angin, dan 2 menandakan kelenturan bilah turbin angin.</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4D1CE717-DF22-A2CD-B391-0E93F15A2806}"/>
                  </a:ext>
                </a:extLst>
              </p:cNvPr>
              <p:cNvSpPr txBox="1"/>
              <p:nvPr/>
            </p:nvSpPr>
            <p:spPr>
              <a:xfrm>
                <a:off x="3006165" y="3556842"/>
                <a:ext cx="1108635" cy="1142877"/>
              </a:xfrm>
              <a:prstGeom prst="rect">
                <a:avLst/>
              </a:prstGeom>
              <a:noFill/>
            </p:spPr>
            <p:txBody>
              <a:bodyPr wrap="square">
                <a:spAutoFit/>
              </a:bodyPr>
              <a:lstStyle/>
              <a:p>
                <a:pPr/>
                <a14:m>
                  <m:oMathPara xmlns:m="http://schemas.openxmlformats.org/officeDocument/2006/math">
                    <m:oMath>
                      <m:d>
                        <m:dPr>
                          <m:begChr m:val="["/>
                          <m:endChr m:val="]"/>
                          <m:ctrlP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m>
                            <m:mPr>
                              <m:mcs>
                                <m:mc>
                                  <m:mcPr>
                                    <m:count m:val="1"/>
                                    <m:mcJc m:val="center"/>
                                  </m:mcPr>
                                </m:mc>
                              </m:mcs>
                              <m:ctrlP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mPr>
                            <m:mr>
                              <m:e>
                                <m:sSub>
                                  <m:sSubPr>
                                    <m:ctrlP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m:rPr>
                                        <m:brk m:alnAt="7"/>
                                      </m:rP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𝜽</m:t>
                                    </m:r>
                                  </m:e>
                                  <m:sub>
                                    <m:r>
                                      <m:rPr>
                                        <m:brk m:alnAt="7"/>
                                      </m:rP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𝟏</m:t>
                                    </m:r>
                                  </m:sub>
                                </m:sSub>
                              </m:e>
                            </m:mr>
                            <m:mr>
                              <m:e>
                                <m:sSub>
                                  <m:sSubPr>
                                    <m:ctrlP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𝜽</m:t>
                                    </m:r>
                                  </m:e>
                                  <m:sub>
                                    <m: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𝟐</m:t>
                                    </m:r>
                                  </m:sub>
                                </m:sSub>
                              </m:e>
                            </m:mr>
                            <m:mr>
                              <m:e>
                                <m:sSub>
                                  <m:sSubPr>
                                    <m:ctrlP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𝝎</m:t>
                                    </m:r>
                                  </m:e>
                                  <m:sub>
                                    <m: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𝟏</m:t>
                                    </m:r>
                                  </m:sub>
                                </m:sSub>
                              </m:e>
                            </m:mr>
                            <m:mr>
                              <m:e>
                                <m:sSub>
                                  <m:sSubPr>
                                    <m:ctrlP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𝝎</m:t>
                                    </m:r>
                                  </m:e>
                                  <m:sub>
                                    <m:r>
                                      <a:rPr lang="id-ID" b="1" i="1" smtClean="0">
                                        <a:gradFill>
                                          <a:gsLst>
                                            <a:gs pos="0">
                                              <a:schemeClr val="accent1">
                                                <a:lumMod val="5000"/>
                                                <a:lumOff val="95000"/>
                                              </a:schemeClr>
                                            </a:gs>
                                            <a:gs pos="49000">
                                              <a:srgbClr val="EF5051"/>
                                            </a:gs>
                                            <a:gs pos="100000">
                                              <a:srgbClr val="EE000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𝟐</m:t>
                                    </m:r>
                                  </m:sub>
                                </m:sSub>
                              </m:e>
                            </m:mr>
                          </m:m>
                        </m:e>
                      </m:d>
                    </m:oMath>
                  </m:oMathPara>
                </a14:m>
                <a:endParaRPr lang="id-ID" b="1" i="1" dirty="0">
                  <a:gradFill>
                    <a:gsLst>
                      <a:gs pos="0">
                        <a:schemeClr val="accent1">
                          <a:lumMod val="5000"/>
                          <a:lumOff val="95000"/>
                        </a:schemeClr>
                      </a:gs>
                      <a:gs pos="49000">
                        <a:srgbClr val="EF5051"/>
                      </a:gs>
                      <a:gs pos="100000">
                        <a:srgbClr val="EE0000"/>
                      </a:gs>
                    </a:gsLst>
                    <a:lin ang="5400000" scaled="1"/>
                  </a:gradFill>
                  <a:ea typeface="HYWenHei-85W" panose="00020600040101010101" pitchFamily="18" charset="-128"/>
                  <a:cs typeface="HYWenHei-85W" panose="00020600040101010101" pitchFamily="18" charset="-128"/>
                </a:endParaRPr>
              </a:p>
            </p:txBody>
          </p:sp>
        </mc:Choice>
        <mc:Fallback>
          <p:sp>
            <p:nvSpPr>
              <p:cNvPr id="18" name="TextBox 17">
                <a:extLst>
                  <a:ext uri="{FF2B5EF4-FFF2-40B4-BE49-F238E27FC236}">
                    <a16:creationId xmlns:a16="http://schemas.microsoft.com/office/drawing/2014/main" id="{4D1CE717-DF22-A2CD-B391-0E93F15A2806}"/>
                  </a:ext>
                </a:extLst>
              </p:cNvPr>
              <p:cNvSpPr txBox="1">
                <a:spLocks noRot="1" noChangeAspect="1" noMove="1" noResize="1" noEditPoints="1" noAdjustHandles="1" noChangeArrowheads="1" noChangeShapeType="1" noTextEdit="1"/>
              </p:cNvSpPr>
              <p:nvPr/>
            </p:nvSpPr>
            <p:spPr>
              <a:xfrm>
                <a:off x="3006165" y="3556842"/>
                <a:ext cx="1108635" cy="1142877"/>
              </a:xfrm>
              <a:prstGeom prst="rect">
                <a:avLst/>
              </a:prstGeom>
              <a:blipFill>
                <a:blip r:embed="rId10"/>
                <a:stretch>
                  <a:fillRect/>
                </a:stretch>
              </a:blipFill>
            </p:spPr>
            <p:txBody>
              <a:bodyPr/>
              <a:lstStyle/>
              <a:p>
                <a:r>
                  <a:rPr lang="id-ID">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7D5CA66-E091-CE5C-3AF1-B4563B5BB250}"/>
                  </a:ext>
                </a:extLst>
              </p:cNvPr>
              <p:cNvSpPr txBox="1"/>
              <p:nvPr/>
            </p:nvSpPr>
            <p:spPr>
              <a:xfrm>
                <a:off x="3217394" y="3501097"/>
                <a:ext cx="8527566" cy="1454437"/>
              </a:xfrm>
              <a:prstGeom prst="rect">
                <a:avLst/>
              </a:prstGeom>
              <a:noFill/>
            </p:spPr>
            <p:txBody>
              <a:bodyPr wrap="square">
                <a:spAutoFit/>
              </a:bodyPr>
              <a:lstStyle/>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Jadi, matrix disini dengan sederhana berdefinisi:</a:t>
                </a:r>
                <a:b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b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d>
                        <m:d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e>
                      </m:d>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d>
                        <m:dPr>
                          <m:begChr m:val="["/>
                          <m:endChr m:val="]"/>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m>
                            <m:mPr>
                              <m:mcs>
                                <m:mc>
                                  <m:mcPr>
                                    <m:count m:val="1"/>
                                    <m:mcJc m:val="center"/>
                                  </m:mcPr>
                                </m:mc>
                              </m:mcs>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mP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m:rPr>
                                        <m:brk m:alnAt="7"/>
                                      </m:r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𝜽</m:t>
                                    </m:r>
                                  </m:e>
                                  <m:sub>
                                    <m:r>
                                      <m:rPr>
                                        <m:brk m:alnAt="7"/>
                                      </m:r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𝟏</m:t>
                                    </m:r>
                                  </m:sub>
                                </m:sSub>
                              </m:e>
                            </m:m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𝜽</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𝟐</m:t>
                                    </m:r>
                                  </m:sub>
                                </m:sSub>
                              </m:e>
                            </m:m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𝝎</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𝟏</m:t>
                                    </m:r>
                                  </m:sub>
                                </m:sSub>
                              </m:e>
                            </m:m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𝝎</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𝟐</m:t>
                                    </m:r>
                                  </m:sub>
                                </m:sSub>
                              </m:e>
                            </m:mr>
                          </m:m>
                        </m:e>
                      </m:d>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d>
                        <m:dPr>
                          <m:begChr m:val="["/>
                          <m:endChr m:val="]"/>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m>
                            <m:mPr>
                              <m:mcs>
                                <m:mc>
                                  <m:mcPr>
                                    <m:count m:val="1"/>
                                    <m:mcJc m:val="center"/>
                                  </m:mcPr>
                                </m:mc>
                              </m:mcs>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mPr>
                            <m:mr>
                              <m:e>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𝑺</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𝒖</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𝒖</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 </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𝑮</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𝒐</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𝒚</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𝒂</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𝒏</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𝒈</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𝒂</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𝒏</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 </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𝑴</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𝒆</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𝒏</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𝒂</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𝒓</m:t>
                                </m:r>
                                <m:r>
                                  <m:rPr>
                                    <m:brk m:alnAt="7"/>
                                  </m:r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𝒂</m:t>
                                </m:r>
                              </m:e>
                            </m:mr>
                            <m:m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𝑺𝒖𝒅𝒖𝒕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 </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𝑲𝒆𝒍𝒆𝒏𝒕𝒖𝒓𝒂𝒏</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 </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𝑩𝒊𝒍𝒂𝒉</m:t>
                                </m:r>
                              </m:e>
                            </m:mr>
                            <m:m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𝑲𝒆𝒄𝒆𝒑𝒂𝒕𝒂𝒏</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 </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𝑮𝒐𝒚𝒂𝒏𝒈𝒂𝒏</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 </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𝑴𝒆𝒏𝒂𝒓𝒂</m:t>
                                </m:r>
                              </m:e>
                            </m:mr>
                            <m:m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𝑲𝒆𝒄𝒆𝒑𝒂𝒕𝒂𝒏</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 </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𝑲𝒆𝒍𝒆𝒏𝒕𝒖𝒓𝒂𝒏</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 </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𝑩𝒊𝒍𝒂𝒉</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e>
                            </m:mr>
                          </m:m>
                        </m:e>
                      </m:d>
                    </m:oMath>
                  </m:oMathPara>
                </a14:m>
                <a:endPar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p:sp>
            <p:nvSpPr>
              <p:cNvPr id="4" name="TextBox 3">
                <a:extLst>
                  <a:ext uri="{FF2B5EF4-FFF2-40B4-BE49-F238E27FC236}">
                    <a16:creationId xmlns:a16="http://schemas.microsoft.com/office/drawing/2014/main" id="{B7D5CA66-E091-CE5C-3AF1-B4563B5BB250}"/>
                  </a:ext>
                </a:extLst>
              </p:cNvPr>
              <p:cNvSpPr txBox="1">
                <a:spLocks noRot="1" noChangeAspect="1" noMove="1" noResize="1" noEditPoints="1" noAdjustHandles="1" noChangeArrowheads="1" noChangeShapeType="1" noTextEdit="1"/>
              </p:cNvSpPr>
              <p:nvPr/>
            </p:nvSpPr>
            <p:spPr>
              <a:xfrm>
                <a:off x="3217394" y="3501097"/>
                <a:ext cx="8527566" cy="1454437"/>
              </a:xfrm>
              <a:prstGeom prst="rect">
                <a:avLst/>
              </a:prstGeom>
              <a:blipFill>
                <a:blip r:embed="rId11"/>
                <a:stretch>
                  <a:fillRect/>
                </a:stretch>
              </a:blipFill>
            </p:spPr>
            <p:txBody>
              <a:bodyPr/>
              <a:lstStyle/>
              <a:p>
                <a:r>
                  <a:rPr lang="id-ID">
                    <a:noFill/>
                  </a:rPr>
                  <a:t> </a:t>
                </a:r>
              </a:p>
            </p:txBody>
          </p:sp>
        </mc:Fallback>
      </mc:AlternateContent>
    </p:spTree>
    <p:extLst>
      <p:ext uri="{BB962C8B-B14F-4D97-AF65-F5344CB8AC3E}">
        <p14:creationId xmlns:p14="http://schemas.microsoft.com/office/powerpoint/2010/main" val="309613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10" presetClass="entr" presetSubtype="0" fill="hold" grpId="0" nodeType="withEffect">
                                  <p:stCondLst>
                                    <p:cond delay="0"/>
                                  </p:stCondLst>
                                  <p:iterate type="wd">
                                    <p:tmPct val="2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1" nodeType="clickEffect">
                                  <p:stCondLst>
                                    <p:cond delay="0"/>
                                  </p:stCondLst>
                                  <p:iterate type="wd">
                                    <p:tmPct val="2000"/>
                                  </p:iterate>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iterate type="wd">
                                    <p:tmPct val="0"/>
                                  </p:iterate>
                                  <p:childTnLst>
                                    <p:animEffect transition="out" filter="fade">
                                      <p:cBhvr>
                                        <p:cTn id="19" dur="500"/>
                                        <p:tgtEl>
                                          <p:spTgt spid="11"/>
                                        </p:tgtEl>
                                      </p:cBhvr>
                                    </p:animEffect>
                                    <p:set>
                                      <p:cBhvr>
                                        <p:cTn id="20" dur="1" fill="hold">
                                          <p:stCondLst>
                                            <p:cond delay="499"/>
                                          </p:stCondLst>
                                        </p:cTn>
                                        <p:tgtEl>
                                          <p:spTgt spid="11"/>
                                        </p:tgtEl>
                                        <p:attrNameLst>
                                          <p:attrName>style.visibility</p:attrName>
                                        </p:attrNameLst>
                                      </p:cBhvr>
                                      <p:to>
                                        <p:strVal val="hidden"/>
                                      </p:to>
                                    </p:set>
                                  </p:childTnLst>
                                </p:cTn>
                              </p:par>
                            </p:childTnLst>
                          </p:cTn>
                        </p:par>
                        <p:par>
                          <p:cTn id="21" fill="hold">
                            <p:stCondLst>
                              <p:cond delay="500"/>
                            </p:stCondLst>
                            <p:childTnLst>
                              <p:par>
                                <p:cTn id="22" presetID="10" presetClass="entr" presetSubtype="0" fill="hold" grpId="0" nodeType="afterEffect">
                                  <p:stCondLst>
                                    <p:cond delay="0"/>
                                  </p:stCondLst>
                                  <p:iterate type="wd">
                                    <p:tmPct val="2000"/>
                                  </p:iterate>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iterate type="wd">
                                    <p:tmPct val="2000"/>
                                  </p:iterate>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iterate type="wd">
                                    <p:tmPct val="0"/>
                                  </p:iterate>
                                  <p:childTnLst>
                                    <p:animEffect transition="out" filter="fade">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par>
                                <p:cTn id="33" presetID="10" presetClass="exit" presetSubtype="0" fill="hold" grpId="1" nodeType="withEffect">
                                  <p:stCondLst>
                                    <p:cond delay="0"/>
                                  </p:stCondLst>
                                  <p:iterate type="wd">
                                    <p:tmPct val="0"/>
                                  </p:iterate>
                                  <p:childTnLst>
                                    <p:animEffect transition="out" filter="fade">
                                      <p:cBhvr>
                                        <p:cTn id="34" dur="500"/>
                                        <p:tgtEl>
                                          <p:spTgt spid="18"/>
                                        </p:tgtEl>
                                      </p:cBhvr>
                                    </p:animEffect>
                                    <p:set>
                                      <p:cBhvr>
                                        <p:cTn id="35" dur="1" fill="hold">
                                          <p:stCondLst>
                                            <p:cond delay="499"/>
                                          </p:stCondLst>
                                        </p:cTn>
                                        <p:tgtEl>
                                          <p:spTgt spid="18"/>
                                        </p:tgtEl>
                                        <p:attrNameLst>
                                          <p:attrName>style.visibility</p:attrName>
                                        </p:attrNameLst>
                                      </p:cBhvr>
                                      <p:to>
                                        <p:strVal val="hidden"/>
                                      </p:to>
                                    </p:set>
                                  </p:childTnLst>
                                </p:cTn>
                              </p:par>
                            </p:childTnLst>
                          </p:cTn>
                        </p:par>
                        <p:par>
                          <p:cTn id="36" fill="hold">
                            <p:stCondLst>
                              <p:cond delay="500"/>
                            </p:stCondLst>
                            <p:childTnLst>
                              <p:par>
                                <p:cTn id="37" presetID="10" presetClass="entr" presetSubtype="0" fill="hold" grpId="1" nodeType="afterEffect">
                                  <p:stCondLst>
                                    <p:cond delay="0"/>
                                  </p:stCondLst>
                                  <p:iterate type="wd">
                                    <p:tmPct val="2000"/>
                                  </p:iterate>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11" grpId="0"/>
      <p:bldP spid="11" grpId="1"/>
      <p:bldP spid="15" grpId="0"/>
      <p:bldP spid="15" grpId="1"/>
      <p:bldP spid="18" grpId="0"/>
      <p:bldP spid="18" grpId="1"/>
      <p:bldP spid="4"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A56CF9C6-CCCE-D1B9-BCFD-78CB9002050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823EE16-8398-91EF-319E-F1E6177606DE}"/>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832CFBC-335F-1B82-49C8-338A78A6A2FA}"/>
                  </a:ext>
                </a:extLst>
              </p:cNvPr>
              <p:cNvSpPr txBox="1"/>
              <p:nvPr/>
            </p:nvSpPr>
            <p:spPr>
              <a:xfrm>
                <a:off x="3527698" y="2478810"/>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7" name="TextBox 6">
                <a:extLst>
                  <a:ext uri="{FF2B5EF4-FFF2-40B4-BE49-F238E27FC236}">
                    <a16:creationId xmlns:a16="http://schemas.microsoft.com/office/drawing/2014/main" id="{F832CFBC-335F-1B82-49C8-338A78A6A2FA}"/>
                  </a:ext>
                </a:extLst>
              </p:cNvPr>
              <p:cNvSpPr txBox="1">
                <a:spLocks noRot="1" noChangeAspect="1" noMove="1" noResize="1" noEditPoints="1" noAdjustHandles="1" noChangeArrowheads="1" noChangeShapeType="1" noTextEdit="1"/>
              </p:cNvSpPr>
              <p:nvPr/>
            </p:nvSpPr>
            <p:spPr>
              <a:xfrm>
                <a:off x="3527698" y="2478810"/>
                <a:ext cx="6952948" cy="369332"/>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DC7D63-48C2-E5AB-E75E-D00ECE55B05B}"/>
                  </a:ext>
                </a:extLst>
              </p:cNvPr>
              <p:cNvSpPr txBox="1"/>
              <p:nvPr/>
            </p:nvSpPr>
            <p:spPr>
              <a:xfrm>
                <a:off x="-1156062" y="3206788"/>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d>
                        <m:d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e>
                      </m:d>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A9DC7D63-48C2-E5AB-E75E-D00ECE55B05B}"/>
                  </a:ext>
                </a:extLst>
              </p:cNvPr>
              <p:cNvSpPr txBox="1">
                <a:spLocks noRot="1" noChangeAspect="1" noMove="1" noResize="1" noEditPoints="1" noAdjustHandles="1" noChangeArrowheads="1" noChangeShapeType="1" noTextEdit="1"/>
              </p:cNvSpPr>
              <p:nvPr/>
            </p:nvSpPr>
            <p:spPr>
              <a:xfrm>
                <a:off x="-1156062" y="3206788"/>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D28149C-E9D2-B704-295A-F13927EBD916}"/>
                  </a:ext>
                </a:extLst>
              </p:cNvPr>
              <p:cNvSpPr txBox="1"/>
              <p:nvPr/>
            </p:nvSpPr>
            <p:spPr>
              <a:xfrm>
                <a:off x="-1156062" y="3576120"/>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d>
                        <m:d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e>
                      </m:d>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9" name="TextBox 8">
                <a:extLst>
                  <a:ext uri="{FF2B5EF4-FFF2-40B4-BE49-F238E27FC236}">
                    <a16:creationId xmlns:a16="http://schemas.microsoft.com/office/drawing/2014/main" id="{9D28149C-E9D2-B704-295A-F13927EBD916}"/>
                  </a:ext>
                </a:extLst>
              </p:cNvPr>
              <p:cNvSpPr txBox="1">
                <a:spLocks noRot="1" noChangeAspect="1" noMove="1" noResize="1" noEditPoints="1" noAdjustHandles="1" noChangeArrowheads="1" noChangeShapeType="1" noTextEdit="1"/>
              </p:cNvSpPr>
              <p:nvPr/>
            </p:nvSpPr>
            <p:spPr>
              <a:xfrm>
                <a:off x="-1156062" y="3576120"/>
                <a:ext cx="6952948" cy="369332"/>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480A359-F6C2-23A3-5DCB-E3AB19DC0F15}"/>
                  </a:ext>
                </a:extLst>
              </p:cNvPr>
              <p:cNvSpPr txBox="1"/>
              <p:nvPr/>
            </p:nvSpPr>
            <p:spPr>
              <a:xfrm>
                <a:off x="-1156062" y="3945452"/>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0" name="TextBox 9">
                <a:extLst>
                  <a:ext uri="{FF2B5EF4-FFF2-40B4-BE49-F238E27FC236}">
                    <a16:creationId xmlns:a16="http://schemas.microsoft.com/office/drawing/2014/main" id="{F480A359-F6C2-23A3-5DCB-E3AB19DC0F15}"/>
                  </a:ext>
                </a:extLst>
              </p:cNvPr>
              <p:cNvSpPr txBox="1">
                <a:spLocks noRot="1" noChangeAspect="1" noMove="1" noResize="1" noEditPoints="1" noAdjustHandles="1" noChangeArrowheads="1" noChangeShapeType="1" noTextEdit="1"/>
              </p:cNvSpPr>
              <p:nvPr/>
            </p:nvSpPr>
            <p:spPr>
              <a:xfrm>
                <a:off x="-1156062" y="3945452"/>
                <a:ext cx="6952948" cy="395621"/>
              </a:xfrm>
              <a:prstGeom prst="rect">
                <a:avLst/>
              </a:prstGeom>
              <a:blipFill>
                <a:blip r:embed="rId5"/>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9461CB8-0E53-86C6-82E4-412F3491C1B0}"/>
                  </a:ext>
                </a:extLst>
              </p:cNvPr>
              <p:cNvSpPr txBox="1"/>
              <p:nvPr/>
            </p:nvSpPr>
            <p:spPr>
              <a:xfrm>
                <a:off x="-1156062" y="4330387"/>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B9461CB8-0E53-86C6-82E4-412F3491C1B0}"/>
                  </a:ext>
                </a:extLst>
              </p:cNvPr>
              <p:cNvSpPr txBox="1">
                <a:spLocks noRot="1" noChangeAspect="1" noMove="1" noResize="1" noEditPoints="1" noAdjustHandles="1" noChangeArrowheads="1" noChangeShapeType="1" noTextEdit="1"/>
              </p:cNvSpPr>
              <p:nvPr/>
            </p:nvSpPr>
            <p:spPr>
              <a:xfrm>
                <a:off x="-1156062" y="4330387"/>
                <a:ext cx="6952948" cy="369332"/>
              </a:xfrm>
              <a:prstGeom prst="rect">
                <a:avLst/>
              </a:prstGeom>
              <a:blipFill>
                <a:blip r:embed="rId6"/>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D08578D-4458-6F4C-B251-1928029E4F3E}"/>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DD08578D-4458-6F4C-B251-1928029E4F3E}"/>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7"/>
                <a:stretch>
                  <a:fillRect/>
                </a:stretch>
              </a:blipFill>
            </p:spPr>
            <p:txBody>
              <a:bodyPr/>
              <a:lstStyle/>
              <a:p>
                <a:r>
                  <a:rPr lang="id-ID">
                    <a:noFill/>
                  </a:rPr>
                  <a:t> </a:t>
                </a:r>
              </a:p>
            </p:txBody>
          </p:sp>
        </mc:Fallback>
      </mc:AlternateContent>
      <p:sp>
        <p:nvSpPr>
          <p:cNvPr id="6" name="TextBox 5">
            <a:extLst>
              <a:ext uri="{FF2B5EF4-FFF2-40B4-BE49-F238E27FC236}">
                <a16:creationId xmlns:a16="http://schemas.microsoft.com/office/drawing/2014/main" id="{11C4AA94-B3CE-4CEA-46DB-2F9CC18F5528}"/>
              </a:ext>
            </a:extLst>
          </p:cNvPr>
          <p:cNvSpPr txBox="1"/>
          <p:nvPr/>
        </p:nvSpPr>
        <p:spPr>
          <a:xfrm>
            <a:off x="3476474" y="2912548"/>
            <a:ext cx="8146566" cy="3416320"/>
          </a:xfrm>
          <a:prstGeom prst="rect">
            <a:avLst/>
          </a:prstGeom>
          <a:noFill/>
        </p:spPr>
        <p:txBody>
          <a:bodyPr wrap="square" rtlCol="0">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Sekarang kita akan membahas yang ini, apa artinya?</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Dengan definisi langsung, fungsi ini berarti </a:t>
            </a:r>
            <a:r>
              <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“Gantinya Posisi Matrix (X) di waktu t”</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 di bagian ini berarti bagian yang sangat sangat kecil</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“X” berarti posisi 4 dimensi (nanti dijelasin)</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“t” yang dibawah melambangkan waktu sesaat dari perhitungan.</a:t>
            </a:r>
          </a:p>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Mengapa jawabannya menjadi dXt?</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Kita sudah mengetahui dari hukum pertama newton bahwa</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Posisi baru= posisi lama + perubahan</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Dengan itu, kita mengetahui bahwa</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Perubahan = posisi baru – posisi lama</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Perubahan dalam rumus ini yaitu “dX”</a:t>
            </a:r>
          </a:p>
        </p:txBody>
      </p:sp>
      <p:sp>
        <p:nvSpPr>
          <p:cNvPr id="11" name="TextBox 10">
            <a:extLst>
              <a:ext uri="{FF2B5EF4-FFF2-40B4-BE49-F238E27FC236}">
                <a16:creationId xmlns:a16="http://schemas.microsoft.com/office/drawing/2014/main" id="{E1D66C68-6679-06F4-ABCA-ED63A4192343}"/>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Tree>
    <p:extLst>
      <p:ext uri="{BB962C8B-B14F-4D97-AF65-F5344CB8AC3E}">
        <p14:creationId xmlns:p14="http://schemas.microsoft.com/office/powerpoint/2010/main" val="2595893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BF60EB34-C183-B09E-57ED-DD244CC0F20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DD068CA-BBA6-89D4-EB11-12D04677D181}"/>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4BEB3AE-C20C-AC12-2891-B0945A4CD585}"/>
                  </a:ext>
                </a:extLst>
              </p:cNvPr>
              <p:cNvSpPr txBox="1"/>
              <p:nvPr/>
            </p:nvSpPr>
            <p:spPr>
              <a:xfrm>
                <a:off x="3375298" y="2995833"/>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d>
                        <m:d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e>
                      </m:d>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d>
                        <m:d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e>
                      </m:d>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64BEB3AE-C20C-AC12-2891-B0945A4CD585}"/>
                  </a:ext>
                </a:extLst>
              </p:cNvPr>
              <p:cNvSpPr txBox="1">
                <a:spLocks noRot="1" noChangeAspect="1" noMove="1" noResize="1" noEditPoints="1" noAdjustHandles="1" noChangeArrowheads="1" noChangeShapeType="1" noTextEdit="1"/>
              </p:cNvSpPr>
              <p:nvPr/>
            </p:nvSpPr>
            <p:spPr>
              <a:xfrm>
                <a:off x="3375298" y="2995833"/>
                <a:ext cx="6952948" cy="395621"/>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0EED5F0-FDF1-0DD1-79D4-B87A260AF689}"/>
                  </a:ext>
                </a:extLst>
              </p:cNvPr>
              <p:cNvSpPr txBox="1"/>
              <p:nvPr/>
            </p:nvSpPr>
            <p:spPr>
              <a:xfrm>
                <a:off x="-1156062" y="4330387"/>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A0EED5F0-FDF1-0DD1-79D4-B87A260AF689}"/>
                  </a:ext>
                </a:extLst>
              </p:cNvPr>
              <p:cNvSpPr txBox="1">
                <a:spLocks noRot="1" noChangeAspect="1" noMove="1" noResize="1" noEditPoints="1" noAdjustHandles="1" noChangeArrowheads="1" noChangeShapeType="1" noTextEdit="1"/>
              </p:cNvSpPr>
              <p:nvPr/>
            </p:nvSpPr>
            <p:spPr>
              <a:xfrm>
                <a:off x="-1156062" y="4330387"/>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373B7DE-3142-B745-9F29-2FB377F2FC36}"/>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9373B7DE-3142-B745-9F29-2FB377F2FC36}"/>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C086267-7091-298A-26E2-51FFD221147B}"/>
                  </a:ext>
                </a:extLst>
              </p:cNvPr>
              <p:cNvSpPr txBox="1"/>
              <p:nvPr/>
            </p:nvSpPr>
            <p:spPr>
              <a:xfrm>
                <a:off x="3217394" y="3501097"/>
                <a:ext cx="8527566" cy="1780616"/>
              </a:xfrm>
              <a:prstGeom prst="rect">
                <a:avLst/>
              </a:prstGeom>
              <a:noFill/>
            </p:spPr>
            <p:txBody>
              <a:bodyPr wrap="square">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Sekarang kita lanjut ke </a:t>
                </a:r>
                <a14:m>
                  <m:oMath xmlns:m="http://schemas.openxmlformats.org/officeDocument/2006/math">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d>
                      <m:dPr>
                        <m:ctrlP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e>
                    </m:d>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smtClean="0">
                        <a:gradFill>
                          <a:gsLst>
                            <a:gs pos="55000">
                              <a:srgbClr val="BEE9FA"/>
                            </a:gs>
                            <a:gs pos="0">
                              <a:schemeClr val="accent1">
                                <a:lumMod val="5000"/>
                                <a:lumOff val="95000"/>
                              </a:schemeClr>
                            </a:gs>
                            <a:gs pos="100000">
                              <a:srgbClr val="00B0F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a14:m>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Lhoh, kok ternyata semua ini menjadi 1?</a:t>
                </a:r>
              </a:p>
              <a:p>
                <a:pPr algn="ctr"/>
                <a:endPar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Lihat dengan teliti, di bagian formula ini, semua ini dukurung []dt, jadi membuatnnya menjadi 1 kesatuan</a:t>
                </a:r>
              </a:p>
            </p:txBody>
          </p:sp>
        </mc:Choice>
        <mc:Fallback xmlns="">
          <p:sp>
            <p:nvSpPr>
              <p:cNvPr id="11" name="TextBox 10">
                <a:extLst>
                  <a:ext uri="{FF2B5EF4-FFF2-40B4-BE49-F238E27FC236}">
                    <a16:creationId xmlns:a16="http://schemas.microsoft.com/office/drawing/2014/main" id="{CC086267-7091-298A-26E2-51FFD221147B}"/>
                  </a:ext>
                </a:extLst>
              </p:cNvPr>
              <p:cNvSpPr txBox="1">
                <a:spLocks noRot="1" noChangeAspect="1" noMove="1" noResize="1" noEditPoints="1" noAdjustHandles="1" noChangeArrowheads="1" noChangeShapeType="1" noTextEdit="1"/>
              </p:cNvSpPr>
              <p:nvPr/>
            </p:nvSpPr>
            <p:spPr>
              <a:xfrm>
                <a:off x="3217394" y="3501097"/>
                <a:ext cx="8527566" cy="1780616"/>
              </a:xfrm>
              <a:prstGeom prst="rect">
                <a:avLst/>
              </a:prstGeom>
              <a:blipFill>
                <a:blip r:embed="rId5"/>
                <a:stretch>
                  <a:fillRect/>
                </a:stretch>
              </a:blipFill>
            </p:spPr>
            <p:txBody>
              <a:bodyPr/>
              <a:lstStyle/>
              <a:p>
                <a:r>
                  <a:rPr lang="id-ID">
                    <a:noFill/>
                  </a:rPr>
                  <a:t> </a:t>
                </a:r>
              </a:p>
            </p:txBody>
          </p:sp>
        </mc:Fallback>
      </mc:AlternateContent>
      <p:sp>
        <p:nvSpPr>
          <p:cNvPr id="6" name="TextBox 5">
            <a:extLst>
              <a:ext uri="{FF2B5EF4-FFF2-40B4-BE49-F238E27FC236}">
                <a16:creationId xmlns:a16="http://schemas.microsoft.com/office/drawing/2014/main" id="{ABDD844E-5479-8BB1-D21D-033A4FF59280}"/>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
        <p:nvSpPr>
          <p:cNvPr id="4" name="TextBox 3">
            <a:extLst>
              <a:ext uri="{FF2B5EF4-FFF2-40B4-BE49-F238E27FC236}">
                <a16:creationId xmlns:a16="http://schemas.microsoft.com/office/drawing/2014/main" id="{48BC6B51-C4F9-9DE0-0DA7-5AAC547B9276}"/>
              </a:ext>
            </a:extLst>
          </p:cNvPr>
          <p:cNvSpPr txBox="1"/>
          <p:nvPr/>
        </p:nvSpPr>
        <p:spPr>
          <a:xfrm>
            <a:off x="3217394" y="3501097"/>
            <a:ext cx="8527566" cy="2585323"/>
          </a:xfrm>
          <a:prstGeom prst="rect">
            <a:avLst/>
          </a:prstGeom>
          <a:noFill/>
        </p:spPr>
        <p:txBody>
          <a:bodyPr wrap="square">
            <a:spAutoFit/>
          </a:bodyPr>
          <a:lstStyle/>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Bagian ini disebut “eksekusi rem adaptif”, mungkin namanya terdengar kompleks, tetapi tetap mempunyai dasar yang sederhana.</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Ingat bahwa rumus pengendalian kita di tingkat 1 hanya memakai variabel statis? Sekarang kita memakai variabel </a:t>
            </a:r>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dinamis</a:t>
            </a:r>
            <a:endPar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Apa perbedaannya?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Kalau variabel statis, walaupun turbin anginnya stabil, formula tingkat 1 tetap mengaktifkan penyelamat 1 dan 2 </a:t>
            </a:r>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walaupun errornya sangat kecil, kecil banget untuk boleh disepelekan dulu.</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Tetapi disini, kami menetapkan area mati. </a:t>
            </a:r>
          </a:p>
        </p:txBody>
      </p:sp>
    </p:spTree>
    <p:extLst>
      <p:ext uri="{BB962C8B-B14F-4D97-AF65-F5344CB8AC3E}">
        <p14:creationId xmlns:p14="http://schemas.microsoft.com/office/powerpoint/2010/main" val="728484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C4035046-9EB4-4F97-9BAF-F3EE75EE99C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D46DCD0-C528-D5D8-0718-12AB7B09F699}"/>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32A2D65-5888-B679-B2F6-599DBE579956}"/>
                  </a:ext>
                </a:extLst>
              </p:cNvPr>
              <p:cNvSpPr txBox="1"/>
              <p:nvPr/>
            </p:nvSpPr>
            <p:spPr>
              <a:xfrm>
                <a:off x="3375298" y="2995833"/>
                <a:ext cx="6952948" cy="395621"/>
              </a:xfrm>
              <a:prstGeom prst="rect">
                <a:avLst/>
              </a:prstGeom>
              <a:noFill/>
            </p:spPr>
            <p:txBody>
              <a:bodyPr wrap="square" rtlCol="0">
                <a:spAutoFit/>
              </a:bodyPr>
              <a:lstStyle/>
              <a:p>
                <a:pPr algn="ctr"/>
                <a14:m>
                  <m:oMathPara xmlns:m="http://schemas.openxmlformats.org/officeDocument/2006/math">
                    <m:oMath>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𝑓</m:t>
                      </m:r>
                      <m:d>
                        <m:d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e>
                      </m:d>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𝑩</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𝐾</m:t>
                      </m:r>
                      <m:d>
                        <m:d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e>
                      </m:d>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𝑡𝑎𝑟𝑔𝑒𝑡</m:t>
                          </m:r>
                        </m:sub>
                      </m:s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C32A2D65-5888-B679-B2F6-599DBE579956}"/>
                  </a:ext>
                </a:extLst>
              </p:cNvPr>
              <p:cNvSpPr txBox="1">
                <a:spLocks noRot="1" noChangeAspect="1" noMove="1" noResize="1" noEditPoints="1" noAdjustHandles="1" noChangeArrowheads="1" noChangeShapeType="1" noTextEdit="1"/>
              </p:cNvSpPr>
              <p:nvPr/>
            </p:nvSpPr>
            <p:spPr>
              <a:xfrm>
                <a:off x="3375298" y="2995833"/>
                <a:ext cx="6952948" cy="395621"/>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27ABDBC-C090-3C79-332D-B1769B60E2A5}"/>
                  </a:ext>
                </a:extLst>
              </p:cNvPr>
              <p:cNvSpPr txBox="1"/>
              <p:nvPr/>
            </p:nvSpPr>
            <p:spPr>
              <a:xfrm>
                <a:off x="-1156062" y="4330387"/>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827ABDBC-C090-3C79-332D-B1769B60E2A5}"/>
                  </a:ext>
                </a:extLst>
              </p:cNvPr>
              <p:cNvSpPr txBox="1">
                <a:spLocks noRot="1" noChangeAspect="1" noMove="1" noResize="1" noEditPoints="1" noAdjustHandles="1" noChangeArrowheads="1" noChangeShapeType="1" noTextEdit="1"/>
              </p:cNvSpPr>
              <p:nvPr/>
            </p:nvSpPr>
            <p:spPr>
              <a:xfrm>
                <a:off x="-1156062" y="4330387"/>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F2CB9D2-35BF-10CB-0FCA-845326F4E98D}"/>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DF2CB9D2-35BF-10CB-0FCA-845326F4E98D}"/>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4"/>
                <a:stretch>
                  <a:fillRect/>
                </a:stretch>
              </a:blipFill>
            </p:spPr>
            <p:txBody>
              <a:bodyPr/>
              <a:lstStyle/>
              <a:p>
                <a:r>
                  <a:rPr lang="id-ID">
                    <a:noFill/>
                  </a:rPr>
                  <a:t> </a:t>
                </a:r>
              </a:p>
            </p:txBody>
          </p:sp>
        </mc:Fallback>
      </mc:AlternateContent>
      <p:sp>
        <p:nvSpPr>
          <p:cNvPr id="11" name="TextBox 10">
            <a:extLst>
              <a:ext uri="{FF2B5EF4-FFF2-40B4-BE49-F238E27FC236}">
                <a16:creationId xmlns:a16="http://schemas.microsoft.com/office/drawing/2014/main" id="{4730DB01-A713-0241-94CE-82F8DFA8CD2F}"/>
              </a:ext>
            </a:extLst>
          </p:cNvPr>
          <p:cNvSpPr txBox="1"/>
          <p:nvPr/>
        </p:nvSpPr>
        <p:spPr>
          <a:xfrm>
            <a:off x="3237059" y="3466547"/>
            <a:ext cx="8527566" cy="2308324"/>
          </a:xfrm>
          <a:prstGeom prst="rect">
            <a:avLst/>
          </a:prstGeom>
          <a:noFill/>
        </p:spPr>
        <p:txBody>
          <a:bodyPr wrap="square">
            <a:spAutoFit/>
          </a:bodyPr>
          <a:lstStyle/>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Sekarang –B disini adalah </a:t>
            </a:r>
            <a:r>
              <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matriks alokasi aktuator.</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Atau dengan sederhana, diagram kabel.</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 berfungsi sebagai matrix yang bilang motor yang mana tersambung dengan f(Xt) yang mana.</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Saat komputer memberikan perintah “DORONG!" (dorong balik), bagian mana dari keempat elemen tersebut yang sebenarnya menerima dorongan dalam matriks X?</a:t>
            </a:r>
          </a:p>
          <a:p>
            <a:pPr algn="ct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
        <p:nvSpPr>
          <p:cNvPr id="6" name="TextBox 5">
            <a:extLst>
              <a:ext uri="{FF2B5EF4-FFF2-40B4-BE49-F238E27FC236}">
                <a16:creationId xmlns:a16="http://schemas.microsoft.com/office/drawing/2014/main" id="{9CBC9613-818F-32AC-2657-2C388FF6F700}"/>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
        <p:nvSpPr>
          <p:cNvPr id="4" name="TextBox 3">
            <a:extLst>
              <a:ext uri="{FF2B5EF4-FFF2-40B4-BE49-F238E27FC236}">
                <a16:creationId xmlns:a16="http://schemas.microsoft.com/office/drawing/2014/main" id="{D0CA94D6-4681-5FEA-D709-47E62247D020}"/>
              </a:ext>
            </a:extLst>
          </p:cNvPr>
          <p:cNvSpPr txBox="1"/>
          <p:nvPr/>
        </p:nvSpPr>
        <p:spPr>
          <a:xfrm>
            <a:off x="2836442" y="3466791"/>
            <a:ext cx="9267067" cy="2308324"/>
          </a:xfrm>
          <a:prstGeom prst="rect">
            <a:avLst/>
          </a:prstGeom>
          <a:noFill/>
        </p:spPr>
        <p:txBody>
          <a:bodyPr wrap="square">
            <a:spAutoFit/>
          </a:bodyPr>
          <a:lstStyle/>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Bisakah Anda mendorong sudut secara langsung? Tidak. Anda tidak bisa memindahkan menara ke sudut baru secara instan (teleportasi). Anda hanya bisa memberikan dorongan pada kecepatannya, dan kemudian kecepatan itulah yang secara bertahap mengubah sudutnya seiring waktu.</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Bisakah Anda mendorong kecepatan? Bisa! Itulah fungsi motor—motor memberikan gaya yang mengubah kecepatan.</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 adalah lembar jawaban yang menginstruksikan sistem: "Dorongan diarahkan ke SINI dan SINI, tetapi TIDAK ke sini dan TIDAK ke sini."</a:t>
            </a:r>
          </a:p>
        </p:txBody>
      </p:sp>
    </p:spTree>
    <p:extLst>
      <p:ext uri="{BB962C8B-B14F-4D97-AF65-F5344CB8AC3E}">
        <p14:creationId xmlns:p14="http://schemas.microsoft.com/office/powerpoint/2010/main" val="1200505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1667BEB4-9EF3-6F75-C94A-3296CC1D780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4B5161D-6C30-B497-3B92-461FD5E74143}"/>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B4368A0-6731-82E2-64A4-2D2E39C5F8BD}"/>
                  </a:ext>
                </a:extLst>
              </p:cNvPr>
              <p:cNvSpPr txBox="1"/>
              <p:nvPr/>
            </p:nvSpPr>
            <p:spPr>
              <a:xfrm>
                <a:off x="3375298" y="2995833"/>
                <a:ext cx="6952948" cy="395621"/>
              </a:xfrm>
              <a:prstGeom prst="rect">
                <a:avLst/>
              </a:prstGeom>
              <a:noFill/>
            </p:spPr>
            <p:txBody>
              <a:bodyPr wrap="square" rtlCol="0">
                <a:spAutoFit/>
              </a:bodyPr>
              <a:lstStyle/>
              <a:p>
                <a:pPr algn="ctr"/>
                <a14:m>
                  <m:oMathPara xmlns:m="http://schemas.openxmlformats.org/officeDocument/2006/math">
                    <m:oMath>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𝑓</m:t>
                      </m:r>
                      <m:d>
                        <m:dPr>
                          <m:ctrlP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a:solidFill>
                                <a:srgbClr val="EE0000"/>
                              </a:solidFill>
                              <a:latin typeface="Cambria Math" panose="02040503050406030204" pitchFamily="18" charset="0"/>
                              <a:ea typeface="HYWenHei-85W" panose="00020600040101010101" pitchFamily="18" charset="-128"/>
                              <a:cs typeface="HYWenHei-85W" panose="00020600040101010101" pitchFamily="18" charset="-128"/>
                            </a:rPr>
                            <m:t>​</m:t>
                          </m:r>
                        </m:e>
                      </m:d>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𝑩</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𝐾</m:t>
                      </m:r>
                      <m:d>
                        <m:d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e>
                      </m:d>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𝑡𝑎𝑟𝑔𝑒𝑡</m:t>
                          </m:r>
                        </m:sub>
                      </m:s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9B4368A0-6731-82E2-64A4-2D2E39C5F8BD}"/>
                  </a:ext>
                </a:extLst>
              </p:cNvPr>
              <p:cNvSpPr txBox="1">
                <a:spLocks noRot="1" noChangeAspect="1" noMove="1" noResize="1" noEditPoints="1" noAdjustHandles="1" noChangeArrowheads="1" noChangeShapeType="1" noTextEdit="1"/>
              </p:cNvSpPr>
              <p:nvPr/>
            </p:nvSpPr>
            <p:spPr>
              <a:xfrm>
                <a:off x="3375298" y="2995833"/>
                <a:ext cx="6952948" cy="395621"/>
              </a:xfrm>
              <a:prstGeom prst="rect">
                <a:avLst/>
              </a:prstGeom>
              <a:blipFill>
                <a:blip r:embed="rId2"/>
                <a:stretch>
                  <a:fillRect b="-7692"/>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AB8AF0-8AD9-3CCE-CED9-2F3FCF898AA7}"/>
                  </a:ext>
                </a:extLst>
              </p:cNvPr>
              <p:cNvSpPr txBox="1"/>
              <p:nvPr/>
            </p:nvSpPr>
            <p:spPr>
              <a:xfrm>
                <a:off x="-1156062" y="4330387"/>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84AB8AF0-8AD9-3CCE-CED9-2F3FCF898AA7}"/>
                  </a:ext>
                </a:extLst>
              </p:cNvPr>
              <p:cNvSpPr txBox="1">
                <a:spLocks noRot="1" noChangeAspect="1" noMove="1" noResize="1" noEditPoints="1" noAdjustHandles="1" noChangeArrowheads="1" noChangeShapeType="1" noTextEdit="1"/>
              </p:cNvSpPr>
              <p:nvPr/>
            </p:nvSpPr>
            <p:spPr>
              <a:xfrm>
                <a:off x="-1156062" y="4330387"/>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051CEBF-4577-58B4-B833-CB78B7852A82}"/>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B051CEBF-4577-58B4-B833-CB78B7852A82}"/>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8FA93A9-1C4C-44AD-437C-B9113C909A3C}"/>
                  </a:ext>
                </a:extLst>
              </p:cNvPr>
              <p:cNvSpPr txBox="1"/>
              <p:nvPr/>
            </p:nvSpPr>
            <p:spPr>
              <a:xfrm>
                <a:off x="2836442" y="3466791"/>
                <a:ext cx="9267067" cy="2813271"/>
              </a:xfrm>
              <a:prstGeom prst="rect">
                <a:avLst/>
              </a:prstGeom>
              <a:noFill/>
            </p:spPr>
            <p:txBody>
              <a:bodyPr wrap="square">
                <a:spAutoFit/>
              </a:bodyPr>
              <a:lstStyle/>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Jadi, matrix B menjadi </a:t>
                </a:r>
                <a14:m>
                  <m:oMath xmlns:m="http://schemas.openxmlformats.org/officeDocument/2006/math">
                    <m:d>
                      <m:dPr>
                        <m:begChr m:val="["/>
                        <m:endChr m:val="]"/>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m>
                          <m:mPr>
                            <m:mcs>
                              <m:mc>
                                <m:mcPr>
                                  <m:count m:val="2"/>
                                  <m:mcJc m:val="center"/>
                                </m:mcPr>
                              </m:mc>
                            </m:mcs>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mPr>
                          <m:mr>
                            <m:e>
                              <m:r>
                                <m:rPr>
                                  <m:brk m:alnAt="7"/>
                                </m:r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𝟎</m:t>
                              </m:r>
                            </m:e>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𝟎</m:t>
                              </m:r>
                            </m:e>
                          </m:mr>
                          <m:m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𝟎</m:t>
                              </m:r>
                            </m:e>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𝟎</m:t>
                              </m:r>
                            </m:e>
                          </m:mr>
                          <m:m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𝟏</m:t>
                              </m:r>
                            </m:e>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𝟎</m:t>
                              </m:r>
                            </m:e>
                          </m:mr>
                          <m:m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𝟎</m:t>
                              </m:r>
                            </m:e>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𝟏</m:t>
                              </m:r>
                            </m:e>
                          </m:mr>
                        </m:m>
                      </m:e>
                    </m:d>
                  </m:oMath>
                </a14:m>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(berkaitan dengan matrix X) </a:t>
                </a:r>
                <a14:m>
                  <m:oMath xmlns:m="http://schemas.openxmlformats.org/officeDocument/2006/math">
                    <m:d>
                      <m:dPr>
                        <m:begChr m:val="["/>
                        <m:endChr m:val="]"/>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m>
                          <m:mPr>
                            <m:mcs>
                              <m:mc>
                                <m:mcPr>
                                  <m:count m:val="1"/>
                                  <m:mcJc m:val="center"/>
                                </m:mcPr>
                              </m:mc>
                            </m:mcs>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mP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m:rPr>
                                      <m:brk m:alnAt="7"/>
                                    </m:r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𝜽</m:t>
                                  </m:r>
                                </m:e>
                                <m:sub>
                                  <m:r>
                                    <m:rPr>
                                      <m:brk m:alnAt="7"/>
                                    </m:r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𝟏</m:t>
                                  </m:r>
                                </m:sub>
                              </m:sSub>
                            </m:e>
                          </m:m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𝜽</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𝟐</m:t>
                                  </m:r>
                                </m:sub>
                              </m:sSub>
                            </m:e>
                          </m:m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𝝎</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𝟏</m:t>
                                  </m:r>
                                </m:sub>
                              </m:sSub>
                            </m:e>
                          </m:mr>
                          <m:mr>
                            <m:e>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𝝎</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𝟐</m:t>
                                  </m:r>
                                </m:sub>
                              </m:sSub>
                            </m:e>
                          </m:mr>
                        </m:m>
                      </m:e>
                    </m:d>
                  </m:oMath>
                </a14:m>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dimana kolum vertikal menandai motor A/B, dan kolom horizontal relatif dengan matrix X</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Motor A: Rem elektromagnetik generator (mengontrol goyangan menara)</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Motor B: Servo pitch di hub (mengontrol kelenturan bilah)</a:t>
                </a:r>
              </a:p>
              <a:p>
                <a:pPr algn="ctr"/>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*Tidak ada motor di dunia yang dapat langsung memindahkan menara ke sudut yang berbeda. Motor hanya dapat mendorong berdasarkan kecepatan. Sudut hanya berubah karena konsekuensi alami dari perubahan kecepatan.</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mc:Choice>
        <mc:Fallback xmlns="">
          <p:sp>
            <p:nvSpPr>
              <p:cNvPr id="11" name="TextBox 10">
                <a:extLst>
                  <a:ext uri="{FF2B5EF4-FFF2-40B4-BE49-F238E27FC236}">
                    <a16:creationId xmlns:a16="http://schemas.microsoft.com/office/drawing/2014/main" id="{48FA93A9-1C4C-44AD-437C-B9113C909A3C}"/>
                  </a:ext>
                </a:extLst>
              </p:cNvPr>
              <p:cNvSpPr txBox="1">
                <a:spLocks noRot="1" noChangeAspect="1" noMove="1" noResize="1" noEditPoints="1" noAdjustHandles="1" noChangeArrowheads="1" noChangeShapeType="1" noTextEdit="1"/>
              </p:cNvSpPr>
              <p:nvPr/>
            </p:nvSpPr>
            <p:spPr>
              <a:xfrm>
                <a:off x="2836442" y="3466791"/>
                <a:ext cx="9267067" cy="2813271"/>
              </a:xfrm>
              <a:prstGeom prst="rect">
                <a:avLst/>
              </a:prstGeom>
              <a:blipFill>
                <a:blip r:embed="rId5"/>
                <a:stretch>
                  <a:fillRect/>
                </a:stretch>
              </a:blipFill>
            </p:spPr>
            <p:txBody>
              <a:bodyPr/>
              <a:lstStyle/>
              <a:p>
                <a:r>
                  <a:rPr lang="id-ID">
                    <a:noFill/>
                  </a:rPr>
                  <a:t> </a:t>
                </a:r>
              </a:p>
            </p:txBody>
          </p:sp>
        </mc:Fallback>
      </mc:AlternateContent>
      <p:sp>
        <p:nvSpPr>
          <p:cNvPr id="6" name="TextBox 5">
            <a:extLst>
              <a:ext uri="{FF2B5EF4-FFF2-40B4-BE49-F238E27FC236}">
                <a16:creationId xmlns:a16="http://schemas.microsoft.com/office/drawing/2014/main" id="{5E7448DB-2366-DF96-E424-D968E0F00929}"/>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Tree>
    <p:extLst>
      <p:ext uri="{BB962C8B-B14F-4D97-AF65-F5344CB8AC3E}">
        <p14:creationId xmlns:p14="http://schemas.microsoft.com/office/powerpoint/2010/main" val="2503898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D60BA746-A6B4-9299-5EFE-979C39E19A6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F19C05F-F9B9-42F6-DF46-D121BABBA621}"/>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E6EBBA7-A215-1EED-4C53-64D3407BEAD8}"/>
                  </a:ext>
                </a:extLst>
              </p:cNvPr>
              <p:cNvSpPr txBox="1"/>
              <p:nvPr/>
            </p:nvSpPr>
            <p:spPr>
              <a:xfrm>
                <a:off x="3375298" y="2995833"/>
                <a:ext cx="6952948" cy="395621"/>
              </a:xfrm>
              <a:prstGeom prst="rect">
                <a:avLst/>
              </a:prstGeom>
              <a:noFill/>
            </p:spPr>
            <p:txBody>
              <a:bodyPr wrap="square" rtlCol="0">
                <a:spAutoFit/>
              </a:bodyPr>
              <a:lstStyle/>
              <a:p>
                <a:pPr algn="ctr"/>
                <a14:m>
                  <m:oMathPara xmlns:m="http://schemas.openxmlformats.org/officeDocument/2006/math">
                    <m:oMath>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𝑓</m:t>
                      </m:r>
                      <m:d>
                        <m:dPr>
                          <m:ctrlP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a:solidFill>
                                <a:srgbClr val="EE0000"/>
                              </a:solidFill>
                              <a:latin typeface="Cambria Math" panose="02040503050406030204" pitchFamily="18" charset="0"/>
                              <a:ea typeface="HYWenHei-85W" panose="00020600040101010101" pitchFamily="18" charset="-128"/>
                              <a:cs typeface="HYWenHei-85W" panose="00020600040101010101" pitchFamily="18" charset="-128"/>
                            </a:rPr>
                            <m:t>​</m:t>
                          </m:r>
                        </m:e>
                      </m:d>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𝑩</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𝐾</m:t>
                      </m:r>
                      <m:d>
                        <m:d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e>
                      </m:d>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𝑡𝑎𝑟𝑔𝑒𝑡</m:t>
                          </m:r>
                        </m:sub>
                      </m:s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BE6EBBA7-A215-1EED-4C53-64D3407BEAD8}"/>
                  </a:ext>
                </a:extLst>
              </p:cNvPr>
              <p:cNvSpPr txBox="1">
                <a:spLocks noRot="1" noChangeAspect="1" noMove="1" noResize="1" noEditPoints="1" noAdjustHandles="1" noChangeArrowheads="1" noChangeShapeType="1" noTextEdit="1"/>
              </p:cNvSpPr>
              <p:nvPr/>
            </p:nvSpPr>
            <p:spPr>
              <a:xfrm>
                <a:off x="3375298" y="2995833"/>
                <a:ext cx="6952948" cy="395621"/>
              </a:xfrm>
              <a:prstGeom prst="rect">
                <a:avLst/>
              </a:prstGeom>
              <a:blipFill>
                <a:blip r:embed="rId2"/>
                <a:stretch>
                  <a:fillRect b="-7692"/>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09BECC1-4A27-6115-B4F0-B02EBF3A7C68}"/>
                  </a:ext>
                </a:extLst>
              </p:cNvPr>
              <p:cNvSpPr txBox="1"/>
              <p:nvPr/>
            </p:nvSpPr>
            <p:spPr>
              <a:xfrm>
                <a:off x="-1156062" y="4330387"/>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509BECC1-4A27-6115-B4F0-B02EBF3A7C68}"/>
                  </a:ext>
                </a:extLst>
              </p:cNvPr>
              <p:cNvSpPr txBox="1">
                <a:spLocks noRot="1" noChangeAspect="1" noMove="1" noResize="1" noEditPoints="1" noAdjustHandles="1" noChangeArrowheads="1" noChangeShapeType="1" noTextEdit="1"/>
              </p:cNvSpPr>
              <p:nvPr/>
            </p:nvSpPr>
            <p:spPr>
              <a:xfrm>
                <a:off x="-1156062" y="4330387"/>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6B55017-B9C5-38B3-2495-EACF1B52AF89}"/>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D6B55017-B9C5-38B3-2495-EACF1B52AF89}"/>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4"/>
                <a:stretch>
                  <a:fillRect/>
                </a:stretch>
              </a:blipFill>
            </p:spPr>
            <p:txBody>
              <a:bodyPr/>
              <a:lstStyle/>
              <a:p>
                <a:r>
                  <a:rPr lang="id-ID">
                    <a:noFill/>
                  </a:rPr>
                  <a:t> </a:t>
                </a:r>
              </a:p>
            </p:txBody>
          </p:sp>
        </mc:Fallback>
      </mc:AlternateContent>
      <p:sp>
        <p:nvSpPr>
          <p:cNvPr id="11" name="TextBox 10">
            <a:extLst>
              <a:ext uri="{FF2B5EF4-FFF2-40B4-BE49-F238E27FC236}">
                <a16:creationId xmlns:a16="http://schemas.microsoft.com/office/drawing/2014/main" id="{14A9D74B-DDDA-A815-7EE2-50FCE410D2DE}"/>
              </a:ext>
            </a:extLst>
          </p:cNvPr>
          <p:cNvSpPr txBox="1"/>
          <p:nvPr/>
        </p:nvSpPr>
        <p:spPr>
          <a:xfrm>
            <a:off x="2836442" y="3466791"/>
            <a:ext cx="9267067" cy="2031325"/>
          </a:xfrm>
          <a:prstGeom prst="rect">
            <a:avLst/>
          </a:prstGeom>
          <a:noFill/>
        </p:spPr>
        <p:txBody>
          <a:bodyPr wrap="square">
            <a:spAutoFit/>
          </a:bodyPr>
          <a:lstStyle/>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Kesimpulannya: B adalah diagram pengkabelan yang mengarahkan perintah koreksi komputer ke motor yang tepat, sekaligus memblokir perintah yang secara fisik tidak mungkin (seperti mencoba memindahkan sudut secara teleportasi). Tanpa B, komputer mungkin mencoba mengubah sudut menara secara langsung, yang tidak dapat dilakukan oleh motor mana pun. B mencegah kesalahan itu dan memastikan setiap perintah dikirim ke aktuator fisik yang nyata.</a:t>
            </a:r>
          </a:p>
        </p:txBody>
      </p:sp>
      <p:sp>
        <p:nvSpPr>
          <p:cNvPr id="6" name="TextBox 5">
            <a:extLst>
              <a:ext uri="{FF2B5EF4-FFF2-40B4-BE49-F238E27FC236}">
                <a16:creationId xmlns:a16="http://schemas.microsoft.com/office/drawing/2014/main" id="{287DBB92-EFB4-0F30-0A53-1B99645CE691}"/>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Tree>
    <p:extLst>
      <p:ext uri="{BB962C8B-B14F-4D97-AF65-F5344CB8AC3E}">
        <p14:creationId xmlns:p14="http://schemas.microsoft.com/office/powerpoint/2010/main" val="3413112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3BCD9742-B298-CC53-1BBA-6840DA4B143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884C888-0BA9-533B-26F7-C78F6160411D}"/>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FD983B2-E7A3-C117-785A-070EC3ED58CD}"/>
                  </a:ext>
                </a:extLst>
              </p:cNvPr>
              <p:cNvSpPr txBox="1"/>
              <p:nvPr/>
            </p:nvSpPr>
            <p:spPr>
              <a:xfrm>
                <a:off x="3375298" y="2995833"/>
                <a:ext cx="6952948" cy="395621"/>
              </a:xfrm>
              <a:prstGeom prst="rect">
                <a:avLst/>
              </a:prstGeom>
              <a:noFill/>
            </p:spPr>
            <p:txBody>
              <a:bodyPr wrap="square" rtlCol="0">
                <a:spAutoFit/>
              </a:bodyPr>
              <a:lstStyle/>
              <a:p>
                <a:pPr algn="ctr"/>
                <a14:m>
                  <m:oMathPara xmlns:m="http://schemas.openxmlformats.org/officeDocument/2006/math">
                    <m:oMath>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𝑓</m:t>
                      </m:r>
                      <m:d>
                        <m:d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e>
                      </m:d>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𝐵</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𝑲</m:t>
                      </m:r>
                      <m:d>
                        <m:dPr>
                          <m:ctrlP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ctrlPr>
                        </m:dPr>
                        <m:e>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𝒕</m:t>
                          </m:r>
                        </m:e>
                      </m:d>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𝑡𝑎𝑟𝑔𝑒𝑡</m:t>
                          </m:r>
                        </m:sub>
                      </m:s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5FD983B2-E7A3-C117-785A-070EC3ED58CD}"/>
                  </a:ext>
                </a:extLst>
              </p:cNvPr>
              <p:cNvSpPr txBox="1">
                <a:spLocks noRot="1" noChangeAspect="1" noMove="1" noResize="1" noEditPoints="1" noAdjustHandles="1" noChangeArrowheads="1" noChangeShapeType="1" noTextEdit="1"/>
              </p:cNvSpPr>
              <p:nvPr/>
            </p:nvSpPr>
            <p:spPr>
              <a:xfrm>
                <a:off x="3375298" y="2995833"/>
                <a:ext cx="6952948" cy="395621"/>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0ADEDFB-AE34-DB68-D5A0-281FDD185860}"/>
                  </a:ext>
                </a:extLst>
              </p:cNvPr>
              <p:cNvSpPr txBox="1"/>
              <p:nvPr/>
            </p:nvSpPr>
            <p:spPr>
              <a:xfrm>
                <a:off x="-1156062" y="4330387"/>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00ADEDFB-AE34-DB68-D5A0-281FDD185860}"/>
                  </a:ext>
                </a:extLst>
              </p:cNvPr>
              <p:cNvSpPr txBox="1">
                <a:spLocks noRot="1" noChangeAspect="1" noMove="1" noResize="1" noEditPoints="1" noAdjustHandles="1" noChangeArrowheads="1" noChangeShapeType="1" noTextEdit="1"/>
              </p:cNvSpPr>
              <p:nvPr/>
            </p:nvSpPr>
            <p:spPr>
              <a:xfrm>
                <a:off x="-1156062" y="4330387"/>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CDBF248-CF15-A05F-5D8B-CC8A580CE08E}"/>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9CDBF248-CF15-A05F-5D8B-CC8A580CE08E}"/>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4"/>
                <a:stretch>
                  <a:fillRect/>
                </a:stretch>
              </a:blipFill>
            </p:spPr>
            <p:txBody>
              <a:bodyPr/>
              <a:lstStyle/>
              <a:p>
                <a:r>
                  <a:rPr lang="id-ID">
                    <a:noFill/>
                  </a:rPr>
                  <a:t> </a:t>
                </a:r>
              </a:p>
            </p:txBody>
          </p:sp>
        </mc:Fallback>
      </mc:AlternateContent>
      <p:sp>
        <p:nvSpPr>
          <p:cNvPr id="11" name="TextBox 10">
            <a:extLst>
              <a:ext uri="{FF2B5EF4-FFF2-40B4-BE49-F238E27FC236}">
                <a16:creationId xmlns:a16="http://schemas.microsoft.com/office/drawing/2014/main" id="{6E2CCE48-F896-E26A-951D-C2AC005780D7}"/>
              </a:ext>
            </a:extLst>
          </p:cNvPr>
          <p:cNvSpPr txBox="1"/>
          <p:nvPr/>
        </p:nvSpPr>
        <p:spPr>
          <a:xfrm>
            <a:off x="3217394" y="3501097"/>
            <a:ext cx="8527566" cy="2308324"/>
          </a:xfrm>
          <a:prstGeom prst="rect">
            <a:avLst/>
          </a:prstGeom>
          <a:noFill/>
        </p:spPr>
        <p:txBody>
          <a:bodyPr wrap="square">
            <a:spAutoFit/>
          </a:bodyPr>
          <a:lstStyle/>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K(t) kalau dipecahkan, bisa menjadi 3 yaitu:</a:t>
            </a:r>
          </a:p>
          <a:p>
            <a:pPr marL="342900" indent="-342900" algn="ctr">
              <a:buFontTx/>
              <a:buAutoNum type="arabicPeriod"/>
            </a:pP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Zona mati: ketika pertabrakan angin kecil bangat, penjaga tetap tidak menyala</a:t>
            </a:r>
            <a:endPar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marL="342900" indent="-342900" algn="ctr">
              <a:buFontTx/>
              <a:buAutoNum type="arabicPeriod"/>
            </a:pP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Zona darurat: ketika pertabrakan angin diprediksi akan membuat kekacauan, penjaga akan menyala dengan cepat (minimal K= 2.5)</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marL="342900" indent="-342900" algn="ctr">
              <a:buFontTx/>
              <a:buAutoNum type="arabicPeriod"/>
            </a:pPr>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Zona maksimum: ketika pertabrakan angin sangat kencang, penjaga akan kena batas pengamanan yaitu K=20.0</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marL="342900" indent="-342900" algn="ctr">
              <a:buAutoNum type="arabicPeriod"/>
            </a:pP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
        <p:nvSpPr>
          <p:cNvPr id="6" name="TextBox 5">
            <a:extLst>
              <a:ext uri="{FF2B5EF4-FFF2-40B4-BE49-F238E27FC236}">
                <a16:creationId xmlns:a16="http://schemas.microsoft.com/office/drawing/2014/main" id="{14EA77EE-0119-AB00-ED05-CCAC9D99B777}"/>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
        <p:nvSpPr>
          <p:cNvPr id="4" name="TextBox 3">
            <a:extLst>
              <a:ext uri="{FF2B5EF4-FFF2-40B4-BE49-F238E27FC236}">
                <a16:creationId xmlns:a16="http://schemas.microsoft.com/office/drawing/2014/main" id="{16022967-2ED2-302A-E036-5E8D71F89962}"/>
              </a:ext>
            </a:extLst>
          </p:cNvPr>
          <p:cNvSpPr txBox="1"/>
          <p:nvPr/>
        </p:nvSpPr>
        <p:spPr>
          <a:xfrm>
            <a:off x="3217394" y="3501097"/>
            <a:ext cx="8527566" cy="2862322"/>
          </a:xfrm>
          <a:prstGeom prst="rect">
            <a:avLst/>
          </a:prstGeom>
          <a:noFill/>
        </p:spPr>
        <p:txBody>
          <a:bodyPr wrap="square">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Apa itu area mati?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Area mati di rumus kita mulai dari 0 sampai 2.5, area mati artinya jangkauan nilai yang tetap dianggap 0.</a:t>
            </a:r>
          </a:p>
          <a:p>
            <a:pPr algn="ct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Mengapa kita membutuhkan area mati?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Bayangkan ada orang perfeksionis, ia melihat ketika menyepeda bahwa sepedanya menghadap dikit ke kiri, tetapi dikiiitt banget, orang biasa tidak akan mengetahuinya, tetapi dia tau; dan memaksa sepedanya untuk ke kanan sedikit. Setelah itu, sepedanya malah hadap ke kanan lebih banyak, jadi dia belok ke kiri, terus kanan, terus kiri lagi, dan terus terus lagi.</a:t>
            </a:r>
          </a:p>
        </p:txBody>
      </p:sp>
      <p:sp>
        <p:nvSpPr>
          <p:cNvPr id="9" name="TextBox 8">
            <a:extLst>
              <a:ext uri="{FF2B5EF4-FFF2-40B4-BE49-F238E27FC236}">
                <a16:creationId xmlns:a16="http://schemas.microsoft.com/office/drawing/2014/main" id="{BECB6CEE-CA04-F4C9-7193-69C3E1A09C6C}"/>
              </a:ext>
            </a:extLst>
          </p:cNvPr>
          <p:cNvSpPr txBox="1"/>
          <p:nvPr/>
        </p:nvSpPr>
        <p:spPr>
          <a:xfrm>
            <a:off x="3369794" y="3653497"/>
            <a:ext cx="8527566" cy="2308324"/>
          </a:xfrm>
          <a:prstGeom prst="rect">
            <a:avLst/>
          </a:prstGeom>
          <a:noFill/>
        </p:spPr>
        <p:txBody>
          <a:bodyPr wrap="square">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Apa itu area darurat?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Area mati di rumus kita mulai dari 2.5 sampai 19.0, area darurat itu jangkauan ketika motor penjaga menyala untuk mengoptimasikan matrix X.</a:t>
            </a:r>
          </a:p>
          <a:p>
            <a:pPr algn="ct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Mengapa kita membutuhkan area darurat?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Ini zona ketika formula kita berpikir bahwa hembusan angin yang tidak bisa diprediksi akan mengacaukan pendapatan energi yang optimal, jadi motor penjaga langsung menyala untuk mengkuatkan ketahanan turbin angin.</a:t>
            </a:r>
          </a:p>
        </p:txBody>
      </p:sp>
      <p:sp>
        <p:nvSpPr>
          <p:cNvPr id="12" name="TextBox 11">
            <a:extLst>
              <a:ext uri="{FF2B5EF4-FFF2-40B4-BE49-F238E27FC236}">
                <a16:creationId xmlns:a16="http://schemas.microsoft.com/office/drawing/2014/main" id="{27EC6F85-A928-565D-0254-67CC0D4C1AAC}"/>
              </a:ext>
            </a:extLst>
          </p:cNvPr>
          <p:cNvSpPr txBox="1"/>
          <p:nvPr/>
        </p:nvSpPr>
        <p:spPr>
          <a:xfrm>
            <a:off x="3369794" y="3653497"/>
            <a:ext cx="8527566" cy="2862322"/>
          </a:xfrm>
          <a:prstGeom prst="rect">
            <a:avLst/>
          </a:prstGeom>
          <a:noFill/>
        </p:spPr>
        <p:txBody>
          <a:bodyPr wrap="square">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Apa itu area maksimum?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Area maksimum di rumus kita adalah K=20.0, area maksimum berfungsi sebagai penjaga motor biar tidak bejerka terlalu keras.</a:t>
            </a:r>
          </a:p>
          <a:p>
            <a:pPr algn="ct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Mengapa kita membutuhkan area maksimum?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Karena jika K*(t) dibiarkan mencapai 100 atau 1000, motor akan melakukan koreksi berlebihan dengan sangat keras sehingga akan merusak bantalan sudut bilah atau menciptakan osilasi cambuk yang berbahaya (merusak turbin angin). Batasan tersebut melindungi perangkat keras dari agresivitas pengontrol itu sendiri.</a:t>
            </a:r>
          </a:p>
        </p:txBody>
      </p:sp>
    </p:spTree>
    <p:extLst>
      <p:ext uri="{BB962C8B-B14F-4D97-AF65-F5344CB8AC3E}">
        <p14:creationId xmlns:p14="http://schemas.microsoft.com/office/powerpoint/2010/main" val="827799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iterate type="lt">
                                    <p:tmPct val="1000"/>
                                  </p:iterate>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iterate type="lt">
                                    <p:tmPct val="0"/>
                                  </p:iterate>
                                  <p:childTnLst>
                                    <p:animEffect transition="out" filter="fade">
                                      <p:cBhvr>
                                        <p:cTn id="15" dur="500"/>
                                        <p:tgtEl>
                                          <p:spTgt spid="4"/>
                                        </p:tgtEl>
                                      </p:cBhvr>
                                    </p:animEffect>
                                    <p:set>
                                      <p:cBhvr>
                                        <p:cTn id="16" dur="1" fill="hold">
                                          <p:stCondLst>
                                            <p:cond delay="499"/>
                                          </p:stCondLst>
                                        </p:cTn>
                                        <p:tgtEl>
                                          <p:spTgt spid="4"/>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grpId="0" nodeType="afterEffect">
                                  <p:stCondLst>
                                    <p:cond delay="0"/>
                                  </p:stCondLst>
                                  <p:iterate type="lt">
                                    <p:tmPct val="1000"/>
                                  </p:iterate>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iterate type="lt">
                                    <p:tmPct val="0"/>
                                  </p:iterate>
                                  <p:childTnLst>
                                    <p:animEffect transition="out" filter="fade">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childTnLst>
                          </p:cTn>
                        </p:par>
                        <p:par>
                          <p:cTn id="26" fill="hold">
                            <p:stCondLst>
                              <p:cond delay="500"/>
                            </p:stCondLst>
                            <p:childTnLst>
                              <p:par>
                                <p:cTn id="27" presetID="10" presetClass="entr" presetSubtype="0" fill="hold" grpId="0" nodeType="afterEffect">
                                  <p:stCondLst>
                                    <p:cond delay="0"/>
                                  </p:stCondLst>
                                  <p:iterate type="lt">
                                    <p:tmPct val="1000"/>
                                  </p:iterate>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P spid="4" grpId="1"/>
      <p:bldP spid="9" grpId="0"/>
      <p:bldP spid="9" grpId="1"/>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D054D3D9-D724-F771-C277-DFE2462AEC6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B98CB39-9A94-B69B-D203-127C0095D7FB}"/>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2F83750-8229-9B25-A124-803A0F75476C}"/>
                  </a:ext>
                </a:extLst>
              </p:cNvPr>
              <p:cNvSpPr txBox="1"/>
              <p:nvPr/>
            </p:nvSpPr>
            <p:spPr>
              <a:xfrm>
                <a:off x="3375298" y="2995833"/>
                <a:ext cx="6952948" cy="395621"/>
              </a:xfrm>
              <a:prstGeom prst="rect">
                <a:avLst/>
              </a:prstGeom>
              <a:noFill/>
            </p:spPr>
            <p:txBody>
              <a:bodyPr wrap="square" rtlCol="0">
                <a:spAutoFit/>
              </a:bodyPr>
              <a:lstStyle/>
              <a:p>
                <a:pPr algn="ctr"/>
                <a14:m>
                  <m:oMathPara xmlns:m="http://schemas.openxmlformats.org/officeDocument/2006/math">
                    <m:oMath>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𝑓</m:t>
                      </m:r>
                      <m:d>
                        <m:d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e>
                      </m:d>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𝐵</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𝐾</m:t>
                      </m:r>
                      <m:d>
                        <m:d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e>
                      </m:d>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02F83750-8229-9B25-A124-803A0F75476C}"/>
                  </a:ext>
                </a:extLst>
              </p:cNvPr>
              <p:cNvSpPr txBox="1">
                <a:spLocks noRot="1" noChangeAspect="1" noMove="1" noResize="1" noEditPoints="1" noAdjustHandles="1" noChangeArrowheads="1" noChangeShapeType="1" noTextEdit="1"/>
              </p:cNvSpPr>
              <p:nvPr/>
            </p:nvSpPr>
            <p:spPr>
              <a:xfrm>
                <a:off x="3375298" y="2995833"/>
                <a:ext cx="6952948" cy="395621"/>
              </a:xfrm>
              <a:prstGeom prst="rect">
                <a:avLst/>
              </a:prstGeom>
              <a:blipFill>
                <a:blip r:embed="rId2"/>
                <a:stretch>
                  <a:fillRect b="-7692"/>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600ED47-66D9-1E18-6B23-8811F5FBD4B0}"/>
                  </a:ext>
                </a:extLst>
              </p:cNvPr>
              <p:cNvSpPr txBox="1"/>
              <p:nvPr/>
            </p:nvSpPr>
            <p:spPr>
              <a:xfrm>
                <a:off x="-1156062" y="4330387"/>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C600ED47-66D9-1E18-6B23-8811F5FBD4B0}"/>
                  </a:ext>
                </a:extLst>
              </p:cNvPr>
              <p:cNvSpPr txBox="1">
                <a:spLocks noRot="1" noChangeAspect="1" noMove="1" noResize="1" noEditPoints="1" noAdjustHandles="1" noChangeArrowheads="1" noChangeShapeType="1" noTextEdit="1"/>
              </p:cNvSpPr>
              <p:nvPr/>
            </p:nvSpPr>
            <p:spPr>
              <a:xfrm>
                <a:off x="-1156062" y="4330387"/>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D76C579-D6D5-9832-A7CB-1409640018E5}"/>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8D76C579-D6D5-9832-A7CB-1409640018E5}"/>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07083CB-525A-BCF4-9A46-18D83E8F01AD}"/>
                  </a:ext>
                </a:extLst>
              </p:cNvPr>
              <p:cNvSpPr txBox="1"/>
              <p:nvPr/>
            </p:nvSpPr>
            <p:spPr>
              <a:xfrm>
                <a:off x="3217394" y="3501097"/>
                <a:ext cx="8527566" cy="949619"/>
              </a:xfrm>
              <a:prstGeom prst="rect">
                <a:avLst/>
              </a:prstGeom>
              <a:noFill/>
            </p:spPr>
            <p:txBody>
              <a:bodyPr wrap="square">
                <a:spAutoFit/>
              </a:bodyPr>
              <a:lstStyle/>
              <a:p>
                <a:pPr algn="ctr"/>
                <a14:m>
                  <m:oMath xmlns:m="http://schemas.openxmlformats.org/officeDocument/2006/math">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oMath>
                </a14:m>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bagian rumus ini berfungsi untuk menghitung jarak kesalahan dari </a:t>
                </a:r>
                <a14:m>
                  <m:oMath xmlns:m="http://schemas.openxmlformats.org/officeDocument/2006/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a14:m>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dimana X_t adalah posisi sebenarnya dan [X target] adalah posisi ideal / terprediksi / aman.</a:t>
                </a:r>
              </a:p>
            </p:txBody>
          </p:sp>
        </mc:Choice>
        <mc:Fallback xmlns="">
          <p:sp>
            <p:nvSpPr>
              <p:cNvPr id="11" name="TextBox 10">
                <a:extLst>
                  <a:ext uri="{FF2B5EF4-FFF2-40B4-BE49-F238E27FC236}">
                    <a16:creationId xmlns:a16="http://schemas.microsoft.com/office/drawing/2014/main" id="{107083CB-525A-BCF4-9A46-18D83E8F01AD}"/>
                  </a:ext>
                </a:extLst>
              </p:cNvPr>
              <p:cNvSpPr txBox="1">
                <a:spLocks noRot="1" noChangeAspect="1" noMove="1" noResize="1" noEditPoints="1" noAdjustHandles="1" noChangeArrowheads="1" noChangeShapeType="1" noTextEdit="1"/>
              </p:cNvSpPr>
              <p:nvPr/>
            </p:nvSpPr>
            <p:spPr>
              <a:xfrm>
                <a:off x="3217394" y="3501097"/>
                <a:ext cx="8527566" cy="949619"/>
              </a:xfrm>
              <a:prstGeom prst="rect">
                <a:avLst/>
              </a:prstGeom>
              <a:blipFill>
                <a:blip r:embed="rId5"/>
                <a:stretch>
                  <a:fillRect/>
                </a:stretch>
              </a:blipFill>
            </p:spPr>
            <p:txBody>
              <a:bodyPr/>
              <a:lstStyle/>
              <a:p>
                <a:r>
                  <a:rPr lang="id-ID">
                    <a:noFill/>
                  </a:rPr>
                  <a:t> </a:t>
                </a:r>
              </a:p>
            </p:txBody>
          </p:sp>
        </mc:Fallback>
      </mc:AlternateContent>
      <p:sp>
        <p:nvSpPr>
          <p:cNvPr id="6" name="TextBox 5">
            <a:extLst>
              <a:ext uri="{FF2B5EF4-FFF2-40B4-BE49-F238E27FC236}">
                <a16:creationId xmlns:a16="http://schemas.microsoft.com/office/drawing/2014/main" id="{8B9B323D-9104-C1F3-2524-88AFDD02BD9A}"/>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Tree>
    <p:extLst>
      <p:ext uri="{BB962C8B-B14F-4D97-AF65-F5344CB8AC3E}">
        <p14:creationId xmlns:p14="http://schemas.microsoft.com/office/powerpoint/2010/main" val="419766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75670E94-9394-1E14-8EA7-2B5F3C48A2C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DE18894-6E0E-ED0D-E624-9E7FAE87ACA7}"/>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067DFB-352C-B6A2-F7ED-E618EF42FE97}"/>
                  </a:ext>
                </a:extLst>
              </p:cNvPr>
              <p:cNvSpPr txBox="1"/>
              <p:nvPr/>
            </p:nvSpPr>
            <p:spPr>
              <a:xfrm>
                <a:off x="3375298" y="2995833"/>
                <a:ext cx="6952948" cy="395621"/>
              </a:xfrm>
              <a:prstGeom prst="rect">
                <a:avLst/>
              </a:prstGeom>
              <a:noFill/>
            </p:spPr>
            <p:txBody>
              <a:bodyPr wrap="square" rtlCol="0">
                <a:spAutoFit/>
              </a:bodyPr>
              <a:lstStyle/>
              <a:p>
                <a:pPr algn="ctr"/>
                <a14:m>
                  <m:oMathPara xmlns:m="http://schemas.openxmlformats.org/officeDocument/2006/math">
                    <m:oMath>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𝑓</m:t>
                      </m:r>
                      <m:d>
                        <m:d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sSub>
                            <m:sSub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𝑋</m:t>
                              </m:r>
                            </m:e>
                            <m:sub>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sub>
                          </m:sSub>
                          <m:r>
                            <a:rPr lang="id-ID" b="0"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e>
                      </m:d>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𝐵</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𝐾</m:t>
                      </m:r>
                      <m:d>
                        <m:dPr>
                          <m:ctrlP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dPr>
                        <m:e>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𝑡</m:t>
                          </m:r>
                        </m:e>
                      </m:d>
                      <m:r>
                        <a:rPr lang="id-ID" b="0"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0" i="1" smtClean="0">
                          <a:solidFill>
                            <a:srgbClr val="EE0000"/>
                          </a:solidFill>
                          <a:latin typeface="Cambria Math" panose="02040503050406030204" pitchFamily="18" charset="0"/>
                          <a:ea typeface="HYWenHei-85W" panose="00020600040101010101" pitchFamily="18" charset="-128"/>
                          <a:cs typeface="HYWenHei-85W" panose="00020600040101010101" pitchFamily="18" charset="-128"/>
                        </a:rPr>
                        <m:t>𝑑𝑡</m:t>
                      </m:r>
                    </m:oMath>
                  </m:oMathPara>
                </a14:m>
                <a:endParaRPr lang="id-ID"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8" name="TextBox 7">
                <a:extLst>
                  <a:ext uri="{FF2B5EF4-FFF2-40B4-BE49-F238E27FC236}">
                    <a16:creationId xmlns:a16="http://schemas.microsoft.com/office/drawing/2014/main" id="{4E067DFB-352C-B6A2-F7ED-E618EF42FE97}"/>
                  </a:ext>
                </a:extLst>
              </p:cNvPr>
              <p:cNvSpPr txBox="1">
                <a:spLocks noRot="1" noChangeAspect="1" noMove="1" noResize="1" noEditPoints="1" noAdjustHandles="1" noChangeArrowheads="1" noChangeShapeType="1" noTextEdit="1"/>
              </p:cNvSpPr>
              <p:nvPr/>
            </p:nvSpPr>
            <p:spPr>
              <a:xfrm>
                <a:off x="3375298" y="2995833"/>
                <a:ext cx="6952948" cy="395621"/>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5E17771-9E71-8327-8CB9-AE12734C00B3}"/>
                  </a:ext>
                </a:extLst>
              </p:cNvPr>
              <p:cNvSpPr txBox="1"/>
              <p:nvPr/>
            </p:nvSpPr>
            <p:spPr>
              <a:xfrm>
                <a:off x="-1156062" y="4330387"/>
                <a:ext cx="6952948" cy="369332"/>
              </a:xfrm>
              <a:prstGeom prst="rect">
                <a:avLst/>
              </a:prstGeom>
              <a:noFill/>
            </p:spPr>
            <p:txBody>
              <a:bodyPr wrap="square" rtlCol="0">
                <a:spAutoFit/>
              </a:bodyPr>
              <a:lstStyle/>
              <a:p>
                <a:pPr algn="ctr"/>
                <a14:m>
                  <m:oMathPara xmlns:m="http://schemas.openxmlformats.org/officeDocument/2006/math">
                    <m:oMath>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𝒅𝑾𝒕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05E17771-9E71-8327-8CB9-AE12734C00B3}"/>
                  </a:ext>
                </a:extLst>
              </p:cNvPr>
              <p:cNvSpPr txBox="1">
                <a:spLocks noRot="1" noChangeAspect="1" noMove="1" noResize="1" noEditPoints="1" noAdjustHandles="1" noChangeArrowheads="1" noChangeShapeType="1" noTextEdit="1"/>
              </p:cNvSpPr>
              <p:nvPr/>
            </p:nvSpPr>
            <p:spPr>
              <a:xfrm>
                <a:off x="-1156062" y="4330387"/>
                <a:ext cx="6952948" cy="36933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9EFA793-057D-DA27-71E6-6977A1657E06}"/>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A9EFA793-057D-DA27-71E6-6977A1657E06}"/>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4"/>
                <a:stretch>
                  <a:fillRect/>
                </a:stretch>
              </a:blipFill>
            </p:spPr>
            <p:txBody>
              <a:bodyPr/>
              <a:lstStyle/>
              <a:p>
                <a:r>
                  <a:rPr lang="id-ID">
                    <a:noFill/>
                  </a:rPr>
                  <a:t> </a:t>
                </a:r>
              </a:p>
            </p:txBody>
          </p:sp>
        </mc:Fallback>
      </mc:AlternateContent>
      <p:sp>
        <p:nvSpPr>
          <p:cNvPr id="11" name="TextBox 10">
            <a:extLst>
              <a:ext uri="{FF2B5EF4-FFF2-40B4-BE49-F238E27FC236}">
                <a16:creationId xmlns:a16="http://schemas.microsoft.com/office/drawing/2014/main" id="{D4A765C7-819B-FE45-22FF-E8119383EF60}"/>
              </a:ext>
            </a:extLst>
          </p:cNvPr>
          <p:cNvSpPr txBox="1"/>
          <p:nvPr/>
        </p:nvSpPr>
        <p:spPr>
          <a:xfrm>
            <a:off x="3217394" y="3501097"/>
            <a:ext cx="8527566" cy="1754326"/>
          </a:xfrm>
          <a:prstGeom prst="rect">
            <a:avLst/>
          </a:prstGeom>
          <a:noFill/>
        </p:spPr>
        <p:txBody>
          <a:bodyPr wrap="square">
            <a:spAutoFit/>
          </a:bodyPr>
          <a:lstStyle/>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dt di formula kami berfungsi untuk memberi tahu kami seberapa cepat sesuatu mengisi daya per satuan waktu. Untuk mengubah suatu laju menjadi perubahan aktual dalam interval waktu singkat, kita mengalikannya dengan panjang interval tersebut.</a:t>
            </a:r>
          </a:p>
          <a:p>
            <a:pPr algn="ct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Jadi, dt disini mengkalikan semua yang ada di blok [] untuk mengantinya menjadi satuan per detik</a:t>
            </a:r>
          </a:p>
        </p:txBody>
      </p:sp>
      <p:sp>
        <p:nvSpPr>
          <p:cNvPr id="6" name="TextBox 5">
            <a:extLst>
              <a:ext uri="{FF2B5EF4-FFF2-40B4-BE49-F238E27FC236}">
                <a16:creationId xmlns:a16="http://schemas.microsoft.com/office/drawing/2014/main" id="{01C9C929-F453-A624-FE1D-C714A8EB5BFC}"/>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Tree>
    <p:extLst>
      <p:ext uri="{BB962C8B-B14F-4D97-AF65-F5344CB8AC3E}">
        <p14:creationId xmlns:p14="http://schemas.microsoft.com/office/powerpoint/2010/main" val="2440362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D69A5768-8A91-A98E-07E5-07DB40F002E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FE22384-7CB1-6F0A-4ED4-F3F80F078AC6}"/>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C344DC2-E547-170A-2489-ADE966B879CE}"/>
                  </a:ext>
                </a:extLst>
              </p:cNvPr>
              <p:cNvSpPr txBox="1"/>
              <p:nvPr/>
            </p:nvSpPr>
            <p:spPr>
              <a:xfrm>
                <a:off x="2619526" y="2757226"/>
                <a:ext cx="6952948" cy="369332"/>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2" name="TextBox 1">
                <a:extLst>
                  <a:ext uri="{FF2B5EF4-FFF2-40B4-BE49-F238E27FC236}">
                    <a16:creationId xmlns:a16="http://schemas.microsoft.com/office/drawing/2014/main" id="{7C344DC2-E547-170A-2489-ADE966B879CE}"/>
                  </a:ext>
                </a:extLst>
              </p:cNvPr>
              <p:cNvSpPr txBox="1">
                <a:spLocks noRot="1" noChangeAspect="1" noMove="1" noResize="1" noEditPoints="1" noAdjustHandles="1" noChangeArrowheads="1" noChangeShapeType="1" noTextEdit="1"/>
              </p:cNvSpPr>
              <p:nvPr/>
            </p:nvSpPr>
            <p:spPr>
              <a:xfrm>
                <a:off x="2619526" y="2757226"/>
                <a:ext cx="6952948" cy="369332"/>
              </a:xfrm>
              <a:prstGeom prst="rect">
                <a:avLst/>
              </a:prstGeom>
              <a:blipFill>
                <a:blip r:embed="rId2"/>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3E1D7A6-1AF8-7040-F990-1B36472CB4D0}"/>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53E1D7A6-1AF8-7040-F990-1B36472CB4D0}"/>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3DFD053-E2FF-8B45-1D2E-753C18DE5DF3}"/>
                  </a:ext>
                </a:extLst>
              </p:cNvPr>
              <p:cNvSpPr txBox="1"/>
              <p:nvPr/>
            </p:nvSpPr>
            <p:spPr>
              <a:xfrm>
                <a:off x="963561" y="3428998"/>
                <a:ext cx="10264878" cy="1477328"/>
              </a:xfrm>
              <a:prstGeom prst="rect">
                <a:avLst/>
              </a:prstGeom>
              <a:noFill/>
            </p:spPr>
            <p:txBody>
              <a:bodyPr wrap="square">
                <a:spAutoFit/>
              </a:bodyPr>
              <a:lstStyle/>
              <a:p>
                <a:pPr algn="ctr"/>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Ini adalah suku terakhir yang kita miliki untuk rumus tingkat 2 kita.</a:t>
                </a:r>
                <a:endPar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14:m>
                  <m:oMath xmlns:m="http://schemas.openxmlformats.org/officeDocument/2006/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oMath>
                </a14:m>
                <a:r>
                  <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adalah proses wiener </a:t>
                </a:r>
                <a:r>
                  <a:rPr lang="nn-NO"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(anggap saja</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r>
                  <a:rPr lang="nn-NO"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sebagai dorongan kecil yang tak terduga)</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a:p>
                <a:pPr algn="ctr"/>
                <a14:m>
                  <m:oMath xmlns:m="http://schemas.openxmlformats.org/officeDocument/2006/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𝚺</m:t>
                    </m:r>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𝒕</m:t>
                        </m:r>
                      </m:sub>
                    </m:s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Cambria Math" panose="02040503050406030204" pitchFamily="18" charset="0"/>
                        <a:cs typeface="HYWenHei-85W" panose="00020600040101010101" pitchFamily="18" charset="-128"/>
                      </a:rPr>
                      <m:t>)</m:t>
                    </m:r>
                  </m:oMath>
                </a14:m>
                <a:r>
                  <a:rPr lang="id-ID" b="1" i="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a:t>
                </a:r>
                <a:r>
                  <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adalah skala yang mendorong sesuai dengan orientasi turbin sesaat. Istilah ini ditambahkan karena keacakan tidak dikalikan dengan waktu dengan cara yang sama, ia sudah memiliki rumus waktunya sendiri.</a:t>
                </a:r>
              </a:p>
            </p:txBody>
          </p:sp>
        </mc:Choice>
        <mc:Fallback xmlns="">
          <p:sp>
            <p:nvSpPr>
              <p:cNvPr id="6" name="TextBox 5">
                <a:extLst>
                  <a:ext uri="{FF2B5EF4-FFF2-40B4-BE49-F238E27FC236}">
                    <a16:creationId xmlns:a16="http://schemas.microsoft.com/office/drawing/2014/main" id="{E3DFD053-E2FF-8B45-1D2E-753C18DE5DF3}"/>
                  </a:ext>
                </a:extLst>
              </p:cNvPr>
              <p:cNvSpPr txBox="1">
                <a:spLocks noRot="1" noChangeAspect="1" noMove="1" noResize="1" noEditPoints="1" noAdjustHandles="1" noChangeArrowheads="1" noChangeShapeType="1" noTextEdit="1"/>
              </p:cNvSpPr>
              <p:nvPr/>
            </p:nvSpPr>
            <p:spPr>
              <a:xfrm>
                <a:off x="963561" y="3428998"/>
                <a:ext cx="10264878" cy="1477328"/>
              </a:xfrm>
              <a:prstGeom prst="rect">
                <a:avLst/>
              </a:prstGeom>
              <a:blipFill>
                <a:blip r:embed="rId4"/>
                <a:stretch>
                  <a:fillRect/>
                </a:stretch>
              </a:blipFill>
            </p:spPr>
            <p:txBody>
              <a:bodyPr/>
              <a:lstStyle/>
              <a:p>
                <a:r>
                  <a:rPr lang="id-ID">
                    <a:noFill/>
                  </a:rPr>
                  <a:t> </a:t>
                </a:r>
              </a:p>
            </p:txBody>
          </p:sp>
        </mc:Fallback>
      </mc:AlternateContent>
      <p:sp>
        <p:nvSpPr>
          <p:cNvPr id="7" name="TextBox 6">
            <a:extLst>
              <a:ext uri="{FF2B5EF4-FFF2-40B4-BE49-F238E27FC236}">
                <a16:creationId xmlns:a16="http://schemas.microsoft.com/office/drawing/2014/main" id="{9142D3FE-68FA-730A-6EE3-148C7EEA1271}"/>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Tree>
    <p:extLst>
      <p:ext uri="{BB962C8B-B14F-4D97-AF65-F5344CB8AC3E}">
        <p14:creationId xmlns:p14="http://schemas.microsoft.com/office/powerpoint/2010/main" val="3382644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0143C"/>
            </a:gs>
            <a:gs pos="88000">
              <a:srgbClr val="000E29"/>
            </a:gs>
          </a:gsLst>
          <a:lin ang="5400000" scaled="1"/>
        </a:gradFill>
        <a:effectLst/>
      </p:bgPr>
    </p:bg>
    <p:spTree>
      <p:nvGrpSpPr>
        <p:cNvPr id="1" name="">
          <a:extLst>
            <a:ext uri="{FF2B5EF4-FFF2-40B4-BE49-F238E27FC236}">
              <a16:creationId xmlns:a16="http://schemas.microsoft.com/office/drawing/2014/main" id="{092235B8-0006-A5FE-5687-8D440912685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4B175A6-EC05-018B-2E5C-D0D39B8CB85B}"/>
              </a:ext>
            </a:extLst>
          </p:cNvPr>
          <p:cNvSpPr/>
          <p:nvPr/>
        </p:nvSpPr>
        <p:spPr>
          <a:xfrm>
            <a:off x="0" y="-2"/>
            <a:ext cx="12192000" cy="685800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186728A-3298-1C1B-5DCC-9C043D19C908}"/>
                  </a:ext>
                </a:extLst>
              </p:cNvPr>
              <p:cNvSpPr txBox="1"/>
              <p:nvPr/>
            </p:nvSpPr>
            <p:spPr>
              <a:xfrm>
                <a:off x="2619526" y="1444130"/>
                <a:ext cx="6952948" cy="395621"/>
              </a:xfrm>
              <a:prstGeom prst="rect">
                <a:avLst/>
              </a:prstGeom>
              <a:noFill/>
            </p:spPr>
            <p:txBody>
              <a:bodyPr wrap="square" rtlCol="0">
                <a:spAutoFit/>
              </a:bodyPr>
              <a:lstStyle/>
              <a:p>
                <a:pPr algn="ctr"/>
                <a14:m>
                  <m:oMathPara xmlns:m="http://schemas.openxmlformats.org/officeDocument/2006/math">
                    <m:oMath>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𝒇</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𝑩</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𝑲</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𝒕𝒂𝒓𝒈𝒆𝒕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𝒅𝒕</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𝜮</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𝑿</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𝒅</m:t>
                      </m:r>
                      <m:sSub>
                        <m:sSubPr>
                          <m:ctrlP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ctrlPr>
                        </m:sSubPr>
                        <m:e>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𝑾</m:t>
                          </m:r>
                        </m:e>
                        <m:sub>
                          <m:r>
                            <a:rPr lang="id-ID" b="1" i="1" smtClean="0">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𝒕</m:t>
                          </m:r>
                        </m:sub>
                      </m:sSub>
                      <m:r>
                        <a:rPr lang="id-ID" b="1" i="1">
                          <a:gradFill>
                            <a:gsLst>
                              <a:gs pos="84000">
                                <a:srgbClr val="5ECC94"/>
                              </a:gs>
                              <a:gs pos="0">
                                <a:schemeClr val="accent1">
                                  <a:lumMod val="5000"/>
                                  <a:lumOff val="95000"/>
                                </a:schemeClr>
                              </a:gs>
                              <a:gs pos="100000">
                                <a:srgbClr val="00B050"/>
                              </a:gs>
                            </a:gsLst>
                            <a:lin ang="5400000" scaled="1"/>
                          </a:gradFill>
                          <a:latin typeface="Cambria Math" panose="02040503050406030204" pitchFamily="18" charset="0"/>
                          <a:ea typeface="HYWenHei-85W" panose="00020600040101010101" pitchFamily="18" charset="-128"/>
                          <a:cs typeface="HYWenHei-85W" panose="00020600040101010101" pitchFamily="18" charset="-128"/>
                        </a:rPr>
                        <m:t>​</m:t>
                      </m:r>
                    </m:oMath>
                  </m:oMathPara>
                </a14:m>
                <a:endParaRPr lang="id-ID" b="1" dirty="0">
                  <a:gradFill>
                    <a:gsLst>
                      <a:gs pos="84000">
                        <a:srgbClr val="5ECC94"/>
                      </a:gs>
                      <a:gs pos="0">
                        <a:schemeClr val="accent1">
                          <a:lumMod val="5000"/>
                          <a:lumOff val="95000"/>
                        </a:schemeClr>
                      </a:gs>
                      <a:gs pos="100000">
                        <a:srgbClr val="00B050"/>
                      </a:gs>
                    </a:gsLst>
                    <a:lin ang="5400000" scaled="1"/>
                  </a:gradFill>
                  <a:latin typeface="+mj-lt"/>
                  <a:ea typeface="HYWenHei-85W" panose="00020600040101010101" pitchFamily="18" charset="-128"/>
                  <a:cs typeface="HYWenHei-85W" panose="00020600040101010101" pitchFamily="18" charset="-128"/>
                </a:endParaRPr>
              </a:p>
            </p:txBody>
          </p:sp>
        </mc:Choice>
        <mc:Fallback xmlns="">
          <p:sp>
            <p:nvSpPr>
              <p:cNvPr id="13" name="TextBox 12">
                <a:extLst>
                  <a:ext uri="{FF2B5EF4-FFF2-40B4-BE49-F238E27FC236}">
                    <a16:creationId xmlns:a16="http://schemas.microsoft.com/office/drawing/2014/main" id="{8186728A-3298-1C1B-5DCC-9C043D19C908}"/>
                  </a:ext>
                </a:extLst>
              </p:cNvPr>
              <p:cNvSpPr txBox="1">
                <a:spLocks noRot="1" noChangeAspect="1" noMove="1" noResize="1" noEditPoints="1" noAdjustHandles="1" noChangeArrowheads="1" noChangeShapeType="1" noTextEdit="1"/>
              </p:cNvSpPr>
              <p:nvPr/>
            </p:nvSpPr>
            <p:spPr>
              <a:xfrm>
                <a:off x="2619526" y="1444130"/>
                <a:ext cx="6952948" cy="395621"/>
              </a:xfrm>
              <a:prstGeom prst="rect">
                <a:avLst/>
              </a:prstGeom>
              <a:blipFill>
                <a:blip r:embed="rId2"/>
                <a:stretch>
                  <a:fillRect/>
                </a:stretch>
              </a:blipFill>
            </p:spPr>
            <p:txBody>
              <a:bodyPr/>
              <a:lstStyle/>
              <a:p>
                <a:r>
                  <a:rPr lang="id-ID">
                    <a:noFill/>
                  </a:rPr>
                  <a:t> </a:t>
                </a:r>
              </a:p>
            </p:txBody>
          </p:sp>
        </mc:Fallback>
      </mc:AlternateContent>
      <p:sp>
        <p:nvSpPr>
          <p:cNvPr id="6" name="TextBox 5">
            <a:extLst>
              <a:ext uri="{FF2B5EF4-FFF2-40B4-BE49-F238E27FC236}">
                <a16:creationId xmlns:a16="http://schemas.microsoft.com/office/drawing/2014/main" id="{7C8C0DD5-AB16-021F-18EA-0467784918BB}"/>
              </a:ext>
            </a:extLst>
          </p:cNvPr>
          <p:cNvSpPr txBox="1"/>
          <p:nvPr/>
        </p:nvSpPr>
        <p:spPr>
          <a:xfrm>
            <a:off x="963561" y="3428998"/>
            <a:ext cx="10264878" cy="1477328"/>
          </a:xfrm>
          <a:prstGeom prst="rect">
            <a:avLst/>
          </a:prstGeom>
          <a:noFill/>
        </p:spPr>
        <p:txBody>
          <a:bodyPr wrap="square">
            <a:spAutoFit/>
          </a:bodyPr>
          <a:lstStyle/>
          <a:p>
            <a:pPr algn="ct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Jadi dXₜ adalah pergerakan kecil gabungan dari sistem bilah menara selama 0.016 detik, yang terdiri dari bagian deterministik </a:t>
            </a:r>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(bisa ditebak)</a:t>
            </a: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 ditambah bagian acak </a:t>
            </a:r>
            <a:r>
              <a:rPr lang="id-ID" b="1" dirty="0">
                <a:gradFill>
                  <a:gsLst>
                    <a:gs pos="0">
                      <a:schemeClr val="accent1">
                        <a:lumMod val="5000"/>
                        <a:lumOff val="95000"/>
                      </a:schemeClr>
                    </a:gs>
                    <a:gs pos="100000">
                      <a:srgbClr val="EE000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(istilah kebisingan angin, tidak bisa ditebak). </a:t>
            </a:r>
            <a:r>
              <a:rPr lang="id-ID" b="1" dirty="0">
                <a:gradFill>
                  <a:gsLst>
                    <a:gs pos="55000">
                      <a:srgbClr val="BEE9FA"/>
                    </a:gs>
                    <a:gs pos="0">
                      <a:schemeClr val="accent1">
                        <a:lumMod val="5000"/>
                        <a:lumOff val="95000"/>
                      </a:schemeClr>
                    </a:gs>
                    <a:gs pos="100000">
                      <a:srgbClr val="00B0F0"/>
                    </a:gs>
                  </a:gsLst>
                  <a:lin ang="5400000" scaled="1"/>
                </a:gradFill>
                <a:latin typeface="HYWenHei-85W" panose="00020600040101010101" pitchFamily="18" charset="-128"/>
                <a:ea typeface="HYWenHei-85W" panose="00020600040101010101" pitchFamily="18" charset="-128"/>
                <a:cs typeface="HYWenHei-85W" panose="00020600040101010101" pitchFamily="18" charset="-128"/>
              </a:rPr>
              <a:t>Inilah tepatnya cara pengontrol waktu nyata "melangkah" melalui simulasi – dan, ketika Anda menerapkan logika yang sama pada turbin sebenarnya, itu menjadi gerakan fisik nyata dari turbin.</a:t>
            </a:r>
            <a:endParaRPr lang="id-ID" b="1" dirty="0">
              <a:gradFill>
                <a:gsLst>
                  <a:gs pos="84000">
                    <a:srgbClr val="5ECC94"/>
                  </a:gs>
                  <a:gs pos="0">
                    <a:schemeClr val="accent1">
                      <a:lumMod val="5000"/>
                      <a:lumOff val="95000"/>
                    </a:schemeClr>
                  </a:gs>
                  <a:gs pos="100000">
                    <a:srgbClr val="00B050"/>
                  </a:gs>
                </a:gsLst>
                <a:lin ang="5400000" scaled="1"/>
              </a:gradFill>
              <a:latin typeface="HYWenHei-85W" panose="00020600040101010101" pitchFamily="18" charset="-128"/>
              <a:ea typeface="HYWenHei-85W" panose="00020600040101010101" pitchFamily="18" charset="-128"/>
              <a:cs typeface="HYWenHei-85W" panose="00020600040101010101" pitchFamily="18" charset="-128"/>
            </a:endParaRPr>
          </a:p>
        </p:txBody>
      </p:sp>
      <p:sp>
        <p:nvSpPr>
          <p:cNvPr id="3" name="TextBox 2">
            <a:extLst>
              <a:ext uri="{FF2B5EF4-FFF2-40B4-BE49-F238E27FC236}">
                <a16:creationId xmlns:a16="http://schemas.microsoft.com/office/drawing/2014/main" id="{39CFC9C2-6D5B-8F7D-DE5E-42F8D4D43A73}"/>
              </a:ext>
            </a:extLst>
          </p:cNvPr>
          <p:cNvSpPr txBox="1"/>
          <p:nvPr/>
        </p:nvSpPr>
        <p:spPr>
          <a:xfrm>
            <a:off x="4778477" y="520800"/>
            <a:ext cx="2635046" cy="369332"/>
          </a:xfrm>
          <a:prstGeom prst="rect">
            <a:avLst/>
          </a:prstGeom>
          <a:noFill/>
        </p:spPr>
        <p:txBody>
          <a:bodyPr wrap="square" rtlCol="0">
            <a:spAutoFit/>
          </a:bodyPr>
          <a:lstStyle/>
          <a:p>
            <a:pPr algn="ctr"/>
            <a:r>
              <a:rPr lang="id-ID" dirty="0">
                <a:solidFill>
                  <a:schemeClr val="bg1"/>
                </a:solidFill>
                <a:latin typeface="HYWenHei-85W" panose="00020600040101010101" pitchFamily="18" charset="-128"/>
                <a:ea typeface="HYWenHei-85W" panose="00020600040101010101" pitchFamily="18" charset="-128"/>
                <a:cs typeface="HYWenHei-85W" panose="00020600040101010101" pitchFamily="18" charset="-128"/>
              </a:rPr>
              <a:t>Rumus Tingkat [2]</a:t>
            </a:r>
          </a:p>
        </p:txBody>
      </p:sp>
    </p:spTree>
    <p:extLst>
      <p:ext uri="{BB962C8B-B14F-4D97-AF65-F5344CB8AC3E}">
        <p14:creationId xmlns:p14="http://schemas.microsoft.com/office/powerpoint/2010/main" val="17033900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TotalTime>
  <Words>3165</Words>
  <Application>Microsoft Office PowerPoint</Application>
  <PresentationFormat>Widescreen</PresentationFormat>
  <Paragraphs>207</Paragraphs>
  <Slides>23</Slides>
  <Notes>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HYWenHei-85W</vt:lpstr>
      <vt:lpstr>Aptos</vt:lpstr>
      <vt:lpstr>Aptos Display</vt:lpstr>
      <vt:lpstr>Arial</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dc:creator>
  <cp:lastModifiedBy>Nicholas</cp:lastModifiedBy>
  <cp:revision>22</cp:revision>
  <dcterms:created xsi:type="dcterms:W3CDTF">2026-10-06T11:18:09Z</dcterms:created>
  <dcterms:modified xsi:type="dcterms:W3CDTF">2026-10-07T02:41:44Z</dcterms:modified>
</cp:coreProperties>
</file>